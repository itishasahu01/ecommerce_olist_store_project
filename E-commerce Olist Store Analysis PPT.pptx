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9.xml" ContentType="application/vnd.openxmlformats-officedocument.presentationml.notesSlid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6" r:id="rId1"/>
  </p:sldMasterIdLst>
  <p:notesMasterIdLst>
    <p:notesMasterId r:id="rId28"/>
  </p:notesMasterIdLst>
  <p:sldIdLst>
    <p:sldId id="256" r:id="rId2"/>
    <p:sldId id="258" r:id="rId3"/>
    <p:sldId id="259" r:id="rId4"/>
    <p:sldId id="260" r:id="rId5"/>
    <p:sldId id="261" r:id="rId6"/>
    <p:sldId id="262" r:id="rId7"/>
    <p:sldId id="263" r:id="rId8"/>
    <p:sldId id="264" r:id="rId9"/>
    <p:sldId id="265" r:id="rId10"/>
    <p:sldId id="266" r:id="rId11"/>
    <p:sldId id="285" r:id="rId12"/>
    <p:sldId id="268" r:id="rId13"/>
    <p:sldId id="269" r:id="rId14"/>
    <p:sldId id="283" r:id="rId15"/>
    <p:sldId id="270" r:id="rId16"/>
    <p:sldId id="271" r:id="rId17"/>
    <p:sldId id="284" r:id="rId18"/>
    <p:sldId id="272" r:id="rId19"/>
    <p:sldId id="273" r:id="rId20"/>
    <p:sldId id="274" r:id="rId21"/>
    <p:sldId id="276" r:id="rId22"/>
    <p:sldId id="277" r:id="rId23"/>
    <p:sldId id="278" r:id="rId24"/>
    <p:sldId id="279" r:id="rId25"/>
    <p:sldId id="280" r:id="rId26"/>
    <p:sldId id="282"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tisha Sahu" userId="1d4b99e1e8e3cd8d" providerId="LiveId" clId="{4D1637BB-66B2-4D30-B3FF-087A38D7D727}"/>
    <pc:docChg chg="undo custSel addSld delSld modSld">
      <pc:chgData name="Itisha Sahu" userId="1d4b99e1e8e3cd8d" providerId="LiveId" clId="{4D1637BB-66B2-4D30-B3FF-087A38D7D727}" dt="2026-01-10T13:08:25.873" v="3465" actId="20577"/>
      <pc:docMkLst>
        <pc:docMk/>
      </pc:docMkLst>
      <pc:sldChg chg="modSp mod">
        <pc:chgData name="Itisha Sahu" userId="1d4b99e1e8e3cd8d" providerId="LiveId" clId="{4D1637BB-66B2-4D30-B3FF-087A38D7D727}" dt="2026-01-10T12:33:00.655" v="186" actId="20577"/>
        <pc:sldMkLst>
          <pc:docMk/>
          <pc:sldMk cId="0" sldId="258"/>
        </pc:sldMkLst>
        <pc:spChg chg="mod">
          <ac:chgData name="Itisha Sahu" userId="1d4b99e1e8e3cd8d" providerId="LiveId" clId="{4D1637BB-66B2-4D30-B3FF-087A38D7D727}" dt="2026-01-10T12:33:00.655" v="186" actId="20577"/>
          <ac:spMkLst>
            <pc:docMk/>
            <pc:sldMk cId="0" sldId="258"/>
            <ac:spMk id="168" creationId="{00000000-0000-0000-0000-000000000000}"/>
          </ac:spMkLst>
        </pc:spChg>
      </pc:sldChg>
      <pc:sldChg chg="modSp mod">
        <pc:chgData name="Itisha Sahu" userId="1d4b99e1e8e3cd8d" providerId="LiveId" clId="{4D1637BB-66B2-4D30-B3FF-087A38D7D727}" dt="2026-01-10T12:34:44.177" v="199" actId="14100"/>
        <pc:sldMkLst>
          <pc:docMk/>
          <pc:sldMk cId="0" sldId="259"/>
        </pc:sldMkLst>
        <pc:spChg chg="mod">
          <ac:chgData name="Itisha Sahu" userId="1d4b99e1e8e3cd8d" providerId="LiveId" clId="{4D1637BB-66B2-4D30-B3FF-087A38D7D727}" dt="2026-01-10T12:33:13.199" v="187" actId="1076"/>
          <ac:spMkLst>
            <pc:docMk/>
            <pc:sldMk cId="0" sldId="259"/>
            <ac:spMk id="173" creationId="{00000000-0000-0000-0000-000000000000}"/>
          </ac:spMkLst>
        </pc:spChg>
        <pc:spChg chg="mod">
          <ac:chgData name="Itisha Sahu" userId="1d4b99e1e8e3cd8d" providerId="LiveId" clId="{4D1637BB-66B2-4D30-B3FF-087A38D7D727}" dt="2026-01-10T12:34:44.177" v="199" actId="14100"/>
          <ac:spMkLst>
            <pc:docMk/>
            <pc:sldMk cId="0" sldId="259"/>
            <ac:spMk id="174" creationId="{00000000-0000-0000-0000-000000000000}"/>
          </ac:spMkLst>
        </pc:spChg>
      </pc:sldChg>
      <pc:sldChg chg="modSp mod">
        <pc:chgData name="Itisha Sahu" userId="1d4b99e1e8e3cd8d" providerId="LiveId" clId="{4D1637BB-66B2-4D30-B3FF-087A38D7D727}" dt="2026-01-10T12:35:09.546" v="201"/>
        <pc:sldMkLst>
          <pc:docMk/>
          <pc:sldMk cId="0" sldId="260"/>
        </pc:sldMkLst>
        <pc:spChg chg="mod">
          <ac:chgData name="Itisha Sahu" userId="1d4b99e1e8e3cd8d" providerId="LiveId" clId="{4D1637BB-66B2-4D30-B3FF-087A38D7D727}" dt="2026-01-10T12:34:52.941" v="200" actId="1076"/>
          <ac:spMkLst>
            <pc:docMk/>
            <pc:sldMk cId="0" sldId="260"/>
            <ac:spMk id="179" creationId="{00000000-0000-0000-0000-000000000000}"/>
          </ac:spMkLst>
        </pc:spChg>
        <pc:spChg chg="mod">
          <ac:chgData name="Itisha Sahu" userId="1d4b99e1e8e3cd8d" providerId="LiveId" clId="{4D1637BB-66B2-4D30-B3FF-087A38D7D727}" dt="2026-01-10T12:35:09.546" v="201"/>
          <ac:spMkLst>
            <pc:docMk/>
            <pc:sldMk cId="0" sldId="260"/>
            <ac:spMk id="180" creationId="{00000000-0000-0000-0000-000000000000}"/>
          </ac:spMkLst>
        </pc:spChg>
      </pc:sldChg>
      <pc:sldChg chg="addSp delSp modSp mod">
        <pc:chgData name="Itisha Sahu" userId="1d4b99e1e8e3cd8d" providerId="LiveId" clId="{4D1637BB-66B2-4D30-B3FF-087A38D7D727}" dt="2026-01-10T13:00:30.101" v="3234" actId="1076"/>
        <pc:sldMkLst>
          <pc:docMk/>
          <pc:sldMk cId="0" sldId="261"/>
        </pc:sldMkLst>
        <pc:spChg chg="mod">
          <ac:chgData name="Itisha Sahu" userId="1d4b99e1e8e3cd8d" providerId="LiveId" clId="{4D1637BB-66B2-4D30-B3FF-087A38D7D727}" dt="2026-01-10T13:00:23.399" v="3233" actId="20577"/>
          <ac:spMkLst>
            <pc:docMk/>
            <pc:sldMk cId="0" sldId="261"/>
            <ac:spMk id="185" creationId="{00000000-0000-0000-0000-000000000000}"/>
          </ac:spMkLst>
        </pc:spChg>
        <pc:spChg chg="mod">
          <ac:chgData name="Itisha Sahu" userId="1d4b99e1e8e3cd8d" providerId="LiveId" clId="{4D1637BB-66B2-4D30-B3FF-087A38D7D727}" dt="2026-01-10T12:47:32.365" v="1366" actId="1076"/>
          <ac:spMkLst>
            <pc:docMk/>
            <pc:sldMk cId="0" sldId="261"/>
            <ac:spMk id="186" creationId="{00000000-0000-0000-0000-000000000000}"/>
          </ac:spMkLst>
        </pc:spChg>
        <pc:spChg chg="mod">
          <ac:chgData name="Itisha Sahu" userId="1d4b99e1e8e3cd8d" providerId="LiveId" clId="{4D1637BB-66B2-4D30-B3FF-087A38D7D727}" dt="2026-01-10T13:00:30.101" v="3234" actId="1076"/>
          <ac:spMkLst>
            <pc:docMk/>
            <pc:sldMk cId="0" sldId="261"/>
            <ac:spMk id="187" creationId="{00000000-0000-0000-0000-000000000000}"/>
          </ac:spMkLst>
        </pc:spChg>
        <pc:graphicFrameChg chg="add mod">
          <ac:chgData name="Itisha Sahu" userId="1d4b99e1e8e3cd8d" providerId="LiveId" clId="{4D1637BB-66B2-4D30-B3FF-087A38D7D727}" dt="2026-01-10T12:01:57.588" v="73" actId="1076"/>
          <ac:graphicFrameMkLst>
            <pc:docMk/>
            <pc:sldMk cId="0" sldId="261"/>
            <ac:graphicFrameMk id="2" creationId="{D97DEB4E-697A-4D4D-9E50-D39A8C8F2207}"/>
          </ac:graphicFrameMkLst>
        </pc:graphicFrameChg>
        <pc:picChg chg="del">
          <ac:chgData name="Itisha Sahu" userId="1d4b99e1e8e3cd8d" providerId="LiveId" clId="{4D1637BB-66B2-4D30-B3FF-087A38D7D727}" dt="2026-01-10T12:01:41.527" v="70" actId="21"/>
          <ac:picMkLst>
            <pc:docMk/>
            <pc:sldMk cId="0" sldId="261"/>
            <ac:picMk id="188" creationId="{00000000-0000-0000-0000-000000000000}"/>
          </ac:picMkLst>
        </pc:picChg>
      </pc:sldChg>
      <pc:sldChg chg="addSp delSp modSp mod">
        <pc:chgData name="Itisha Sahu" userId="1d4b99e1e8e3cd8d" providerId="LiveId" clId="{4D1637BB-66B2-4D30-B3FF-087A38D7D727}" dt="2026-01-10T13:00:08.731" v="3222" actId="20577"/>
        <pc:sldMkLst>
          <pc:docMk/>
          <pc:sldMk cId="0" sldId="262"/>
        </pc:sldMkLst>
        <pc:spChg chg="mod">
          <ac:chgData name="Itisha Sahu" userId="1d4b99e1e8e3cd8d" providerId="LiveId" clId="{4D1637BB-66B2-4D30-B3FF-087A38D7D727}" dt="2026-01-10T13:00:08.731" v="3222" actId="20577"/>
          <ac:spMkLst>
            <pc:docMk/>
            <pc:sldMk cId="0" sldId="262"/>
            <ac:spMk id="193" creationId="{00000000-0000-0000-0000-000000000000}"/>
          </ac:spMkLst>
        </pc:spChg>
        <pc:spChg chg="mod">
          <ac:chgData name="Itisha Sahu" userId="1d4b99e1e8e3cd8d" providerId="LiveId" clId="{4D1637BB-66B2-4D30-B3FF-087A38D7D727}" dt="2026-01-10T12:50:50.666" v="1905" actId="14100"/>
          <ac:spMkLst>
            <pc:docMk/>
            <pc:sldMk cId="0" sldId="262"/>
            <ac:spMk id="194" creationId="{00000000-0000-0000-0000-000000000000}"/>
          </ac:spMkLst>
        </pc:spChg>
        <pc:spChg chg="mod">
          <ac:chgData name="Itisha Sahu" userId="1d4b99e1e8e3cd8d" providerId="LiveId" clId="{4D1637BB-66B2-4D30-B3FF-087A38D7D727}" dt="2026-01-10T13:00:04.123" v="3218" actId="1076"/>
          <ac:spMkLst>
            <pc:docMk/>
            <pc:sldMk cId="0" sldId="262"/>
            <ac:spMk id="195" creationId="{00000000-0000-0000-0000-000000000000}"/>
          </ac:spMkLst>
        </pc:spChg>
        <pc:graphicFrameChg chg="add mod">
          <ac:chgData name="Itisha Sahu" userId="1d4b99e1e8e3cd8d" providerId="LiveId" clId="{4D1637BB-66B2-4D30-B3FF-087A38D7D727}" dt="2026-01-10T12:02:39.939" v="77" actId="1076"/>
          <ac:graphicFrameMkLst>
            <pc:docMk/>
            <pc:sldMk cId="0" sldId="262"/>
            <ac:graphicFrameMk id="2" creationId="{C1EBE530-36E0-4776-886B-3BF5A8DEF269}"/>
          </ac:graphicFrameMkLst>
        </pc:graphicFrameChg>
        <pc:picChg chg="del">
          <ac:chgData name="Itisha Sahu" userId="1d4b99e1e8e3cd8d" providerId="LiveId" clId="{4D1637BB-66B2-4D30-B3FF-087A38D7D727}" dt="2026-01-10T11:59:42.863" v="63" actId="21"/>
          <ac:picMkLst>
            <pc:docMk/>
            <pc:sldMk cId="0" sldId="262"/>
            <ac:picMk id="196" creationId="{00000000-0000-0000-0000-000000000000}"/>
          </ac:picMkLst>
        </pc:picChg>
      </pc:sldChg>
      <pc:sldChg chg="addSp delSp modSp mod">
        <pc:chgData name="Itisha Sahu" userId="1d4b99e1e8e3cd8d" providerId="LiveId" clId="{4D1637BB-66B2-4D30-B3FF-087A38D7D727}" dt="2026-01-10T13:01:13.403" v="3243" actId="1076"/>
        <pc:sldMkLst>
          <pc:docMk/>
          <pc:sldMk cId="0" sldId="263"/>
        </pc:sldMkLst>
        <pc:spChg chg="mod">
          <ac:chgData name="Itisha Sahu" userId="1d4b99e1e8e3cd8d" providerId="LiveId" clId="{4D1637BB-66B2-4D30-B3FF-087A38D7D727}" dt="2026-01-10T13:01:09.514" v="3242" actId="14100"/>
          <ac:spMkLst>
            <pc:docMk/>
            <pc:sldMk cId="0" sldId="263"/>
            <ac:spMk id="201" creationId="{00000000-0000-0000-0000-000000000000}"/>
          </ac:spMkLst>
        </pc:spChg>
        <pc:spChg chg="mod">
          <ac:chgData name="Itisha Sahu" userId="1d4b99e1e8e3cd8d" providerId="LiveId" clId="{4D1637BB-66B2-4D30-B3FF-087A38D7D727}" dt="2026-01-10T12:52:48.549" v="2236" actId="1076"/>
          <ac:spMkLst>
            <pc:docMk/>
            <pc:sldMk cId="0" sldId="263"/>
            <ac:spMk id="202" creationId="{00000000-0000-0000-0000-000000000000}"/>
          </ac:spMkLst>
        </pc:spChg>
        <pc:spChg chg="mod">
          <ac:chgData name="Itisha Sahu" userId="1d4b99e1e8e3cd8d" providerId="LiveId" clId="{4D1637BB-66B2-4D30-B3FF-087A38D7D727}" dt="2026-01-10T13:01:13.403" v="3243" actId="1076"/>
          <ac:spMkLst>
            <pc:docMk/>
            <pc:sldMk cId="0" sldId="263"/>
            <ac:spMk id="203" creationId="{00000000-0000-0000-0000-000000000000}"/>
          </ac:spMkLst>
        </pc:spChg>
        <pc:graphicFrameChg chg="add mod">
          <ac:chgData name="Itisha Sahu" userId="1d4b99e1e8e3cd8d" providerId="LiveId" clId="{4D1637BB-66B2-4D30-B3FF-087A38D7D727}" dt="2026-01-10T11:59:35.116" v="62" actId="1076"/>
          <ac:graphicFrameMkLst>
            <pc:docMk/>
            <pc:sldMk cId="0" sldId="263"/>
            <ac:graphicFrameMk id="2" creationId="{27ED9931-2E4D-42C8-A578-359911F1F784}"/>
          </ac:graphicFrameMkLst>
        </pc:graphicFrameChg>
        <pc:picChg chg="del">
          <ac:chgData name="Itisha Sahu" userId="1d4b99e1e8e3cd8d" providerId="LiveId" clId="{4D1637BB-66B2-4D30-B3FF-087A38D7D727}" dt="2026-01-10T11:59:11.996" v="59" actId="21"/>
          <ac:picMkLst>
            <pc:docMk/>
            <pc:sldMk cId="0" sldId="263"/>
            <ac:picMk id="204" creationId="{00000000-0000-0000-0000-000000000000}"/>
          </ac:picMkLst>
        </pc:picChg>
      </pc:sldChg>
      <pc:sldChg chg="addSp delSp modSp mod">
        <pc:chgData name="Itisha Sahu" userId="1d4b99e1e8e3cd8d" providerId="LiveId" clId="{4D1637BB-66B2-4D30-B3FF-087A38D7D727}" dt="2026-01-10T13:01:50.458" v="3256" actId="1076"/>
        <pc:sldMkLst>
          <pc:docMk/>
          <pc:sldMk cId="0" sldId="264"/>
        </pc:sldMkLst>
        <pc:spChg chg="mod">
          <ac:chgData name="Itisha Sahu" userId="1d4b99e1e8e3cd8d" providerId="LiveId" clId="{4D1637BB-66B2-4D30-B3FF-087A38D7D727}" dt="2026-01-10T13:01:50.458" v="3256" actId="1076"/>
          <ac:spMkLst>
            <pc:docMk/>
            <pc:sldMk cId="0" sldId="264"/>
            <ac:spMk id="209" creationId="{00000000-0000-0000-0000-000000000000}"/>
          </ac:spMkLst>
        </pc:spChg>
        <pc:spChg chg="mod">
          <ac:chgData name="Itisha Sahu" userId="1d4b99e1e8e3cd8d" providerId="LiveId" clId="{4D1637BB-66B2-4D30-B3FF-087A38D7D727}" dt="2026-01-10T12:55:15.533" v="2627" actId="20577"/>
          <ac:spMkLst>
            <pc:docMk/>
            <pc:sldMk cId="0" sldId="264"/>
            <ac:spMk id="210" creationId="{00000000-0000-0000-0000-000000000000}"/>
          </ac:spMkLst>
        </pc:spChg>
        <pc:spChg chg="mod">
          <ac:chgData name="Itisha Sahu" userId="1d4b99e1e8e3cd8d" providerId="LiveId" clId="{4D1637BB-66B2-4D30-B3FF-087A38D7D727}" dt="2026-01-10T13:01:30.556" v="3245" actId="14100"/>
          <ac:spMkLst>
            <pc:docMk/>
            <pc:sldMk cId="0" sldId="264"/>
            <ac:spMk id="211" creationId="{00000000-0000-0000-0000-000000000000}"/>
          </ac:spMkLst>
        </pc:spChg>
        <pc:graphicFrameChg chg="add mod">
          <ac:chgData name="Itisha Sahu" userId="1d4b99e1e8e3cd8d" providerId="LiveId" clId="{4D1637BB-66B2-4D30-B3FF-087A38D7D727}" dt="2026-01-10T11:58:27.487" v="54" actId="1076"/>
          <ac:graphicFrameMkLst>
            <pc:docMk/>
            <pc:sldMk cId="0" sldId="264"/>
            <ac:graphicFrameMk id="2" creationId="{41F2438E-4B51-4441-A07F-C5905C449431}"/>
          </ac:graphicFrameMkLst>
        </pc:graphicFrameChg>
        <pc:picChg chg="del">
          <ac:chgData name="Itisha Sahu" userId="1d4b99e1e8e3cd8d" providerId="LiveId" clId="{4D1637BB-66B2-4D30-B3FF-087A38D7D727}" dt="2026-01-10T11:53:31.932" v="20" actId="21"/>
          <ac:picMkLst>
            <pc:docMk/>
            <pc:sldMk cId="0" sldId="264"/>
            <ac:picMk id="212" creationId="{00000000-0000-0000-0000-000000000000}"/>
          </ac:picMkLst>
        </pc:picChg>
      </pc:sldChg>
      <pc:sldChg chg="addSp delSp modSp mod">
        <pc:chgData name="Itisha Sahu" userId="1d4b99e1e8e3cd8d" providerId="LiveId" clId="{4D1637BB-66B2-4D30-B3FF-087A38D7D727}" dt="2026-01-10T13:02:57.129" v="3291" actId="20577"/>
        <pc:sldMkLst>
          <pc:docMk/>
          <pc:sldMk cId="0" sldId="265"/>
        </pc:sldMkLst>
        <pc:spChg chg="mod">
          <ac:chgData name="Itisha Sahu" userId="1d4b99e1e8e3cd8d" providerId="LiveId" clId="{4D1637BB-66B2-4D30-B3FF-087A38D7D727}" dt="2026-01-10T13:02:57.129" v="3291" actId="20577"/>
          <ac:spMkLst>
            <pc:docMk/>
            <pc:sldMk cId="0" sldId="265"/>
            <ac:spMk id="217" creationId="{00000000-0000-0000-0000-000000000000}"/>
          </ac:spMkLst>
        </pc:spChg>
        <pc:spChg chg="mod">
          <ac:chgData name="Itisha Sahu" userId="1d4b99e1e8e3cd8d" providerId="LiveId" clId="{4D1637BB-66B2-4D30-B3FF-087A38D7D727}" dt="2026-01-10T12:59:45.502" v="3217" actId="255"/>
          <ac:spMkLst>
            <pc:docMk/>
            <pc:sldMk cId="0" sldId="265"/>
            <ac:spMk id="218" creationId="{00000000-0000-0000-0000-000000000000}"/>
          </ac:spMkLst>
        </pc:spChg>
        <pc:spChg chg="mod">
          <ac:chgData name="Itisha Sahu" userId="1d4b99e1e8e3cd8d" providerId="LiveId" clId="{4D1637BB-66B2-4D30-B3FF-087A38D7D727}" dt="2026-01-10T13:02:25.387" v="3259" actId="1076"/>
          <ac:spMkLst>
            <pc:docMk/>
            <pc:sldMk cId="0" sldId="265"/>
            <ac:spMk id="219" creationId="{00000000-0000-0000-0000-000000000000}"/>
          </ac:spMkLst>
        </pc:spChg>
        <pc:graphicFrameChg chg="add mod">
          <ac:chgData name="Itisha Sahu" userId="1d4b99e1e8e3cd8d" providerId="LiveId" clId="{4D1637BB-66B2-4D30-B3FF-087A38D7D727}" dt="2026-01-10T11:57:44.869" v="49" actId="1076"/>
          <ac:graphicFrameMkLst>
            <pc:docMk/>
            <pc:sldMk cId="0" sldId="265"/>
            <ac:graphicFrameMk id="2" creationId="{8C407876-11D4-4715-B39B-C0B184980709}"/>
          </ac:graphicFrameMkLst>
        </pc:graphicFrameChg>
        <pc:picChg chg="del">
          <ac:chgData name="Itisha Sahu" userId="1d4b99e1e8e3cd8d" providerId="LiveId" clId="{4D1637BB-66B2-4D30-B3FF-087A38D7D727}" dt="2026-01-10T11:53:27.683" v="19" actId="21"/>
          <ac:picMkLst>
            <pc:docMk/>
            <pc:sldMk cId="0" sldId="265"/>
            <ac:picMk id="220" creationId="{00000000-0000-0000-0000-000000000000}"/>
          </ac:picMkLst>
        </pc:picChg>
      </pc:sldChg>
      <pc:sldChg chg="addSp delSp modSp del mod">
        <pc:chgData name="Itisha Sahu" userId="1d4b99e1e8e3cd8d" providerId="LiveId" clId="{4D1637BB-66B2-4D30-B3FF-087A38D7D727}" dt="2026-01-10T12:05:06.342" v="82" actId="2696"/>
        <pc:sldMkLst>
          <pc:docMk/>
          <pc:sldMk cId="0" sldId="267"/>
        </pc:sldMkLst>
        <pc:spChg chg="add mod">
          <ac:chgData name="Itisha Sahu" userId="1d4b99e1e8e3cd8d" providerId="LiveId" clId="{4D1637BB-66B2-4D30-B3FF-087A38D7D727}" dt="2026-01-10T12:04:58.469" v="81" actId="1076"/>
          <ac:spMkLst>
            <pc:docMk/>
            <pc:sldMk cId="0" sldId="267"/>
            <ac:spMk id="2" creationId="{9A2DA841-80AF-B23B-F70F-544AA38FEE0E}"/>
          </ac:spMkLst>
        </pc:spChg>
        <pc:picChg chg="del">
          <ac:chgData name="Itisha Sahu" userId="1d4b99e1e8e3cd8d" providerId="LiveId" clId="{4D1637BB-66B2-4D30-B3FF-087A38D7D727}" dt="2026-01-10T12:04:33.147" v="79" actId="21"/>
          <ac:picMkLst>
            <pc:docMk/>
            <pc:sldMk cId="0" sldId="267"/>
            <ac:picMk id="234" creationId="{00000000-0000-0000-0000-000000000000}"/>
          </ac:picMkLst>
        </pc:picChg>
      </pc:sldChg>
      <pc:sldChg chg="addSp delSp modSp mod modClrScheme chgLayout">
        <pc:chgData name="Itisha Sahu" userId="1d4b99e1e8e3cd8d" providerId="LiveId" clId="{4D1637BB-66B2-4D30-B3FF-087A38D7D727}" dt="2026-01-10T12:09:05.909" v="122" actId="14100"/>
        <pc:sldMkLst>
          <pc:docMk/>
          <pc:sldMk cId="0" sldId="269"/>
        </pc:sldMkLst>
        <pc:spChg chg="add del mod">
          <ac:chgData name="Itisha Sahu" userId="1d4b99e1e8e3cd8d" providerId="LiveId" clId="{4D1637BB-66B2-4D30-B3FF-087A38D7D727}" dt="2026-01-10T12:08:18.749" v="115" actId="700"/>
          <ac:spMkLst>
            <pc:docMk/>
            <pc:sldMk cId="0" sldId="269"/>
            <ac:spMk id="3" creationId="{E2E20715-CC0C-3548-E4C3-3A09C93555D8}"/>
          </ac:spMkLst>
        </pc:spChg>
        <pc:spChg chg="del mod">
          <ac:chgData name="Itisha Sahu" userId="1d4b99e1e8e3cd8d" providerId="LiveId" clId="{4D1637BB-66B2-4D30-B3FF-087A38D7D727}" dt="2026-01-10T12:08:18.749" v="115" actId="700"/>
          <ac:spMkLst>
            <pc:docMk/>
            <pc:sldMk cId="0" sldId="269"/>
            <ac:spMk id="246" creationId="{00000000-0000-0000-0000-000000000000}"/>
          </ac:spMkLst>
        </pc:spChg>
        <pc:picChg chg="add mod">
          <ac:chgData name="Itisha Sahu" userId="1d4b99e1e8e3cd8d" providerId="LiveId" clId="{4D1637BB-66B2-4D30-B3FF-087A38D7D727}" dt="2026-01-10T12:09:05.909" v="122" actId="14100"/>
          <ac:picMkLst>
            <pc:docMk/>
            <pc:sldMk cId="0" sldId="269"/>
            <ac:picMk id="4" creationId="{00000000-0000-0000-0000-000000000000}"/>
          </ac:picMkLst>
        </pc:picChg>
        <pc:picChg chg="del">
          <ac:chgData name="Itisha Sahu" userId="1d4b99e1e8e3cd8d" providerId="LiveId" clId="{4D1637BB-66B2-4D30-B3FF-087A38D7D727}" dt="2026-01-10T12:08:13.922" v="114" actId="21"/>
          <ac:picMkLst>
            <pc:docMk/>
            <pc:sldMk cId="0" sldId="269"/>
            <ac:picMk id="247" creationId="{00000000-0000-0000-0000-000000000000}"/>
          </ac:picMkLst>
        </pc:picChg>
      </pc:sldChg>
      <pc:sldChg chg="addSp delSp modSp mod modClrScheme chgLayout">
        <pc:chgData name="Itisha Sahu" userId="1d4b99e1e8e3cd8d" providerId="LiveId" clId="{4D1637BB-66B2-4D30-B3FF-087A38D7D727}" dt="2026-01-10T12:27:36.522" v="162" actId="20577"/>
        <pc:sldMkLst>
          <pc:docMk/>
          <pc:sldMk cId="0" sldId="277"/>
        </pc:sldMkLst>
        <pc:spChg chg="add del mod">
          <ac:chgData name="Itisha Sahu" userId="1d4b99e1e8e3cd8d" providerId="LiveId" clId="{4D1637BB-66B2-4D30-B3FF-087A38D7D727}" dt="2026-01-10T12:23:28.686" v="135" actId="700"/>
          <ac:spMkLst>
            <pc:docMk/>
            <pc:sldMk cId="0" sldId="277"/>
            <ac:spMk id="3" creationId="{9A46510B-E2E7-9768-9133-1D7694018491}"/>
          </ac:spMkLst>
        </pc:spChg>
        <pc:spChg chg="add del mod">
          <ac:chgData name="Itisha Sahu" userId="1d4b99e1e8e3cd8d" providerId="LiveId" clId="{4D1637BB-66B2-4D30-B3FF-087A38D7D727}" dt="2026-01-10T12:22:00.071" v="131" actId="21"/>
          <ac:spMkLst>
            <pc:docMk/>
            <pc:sldMk cId="0" sldId="277"/>
            <ac:spMk id="4" creationId="{00000000-0000-0000-0000-000000000000}"/>
          </ac:spMkLst>
        </pc:spChg>
        <pc:spChg chg="add mod">
          <ac:chgData name="Itisha Sahu" userId="1d4b99e1e8e3cd8d" providerId="LiveId" clId="{4D1637BB-66B2-4D30-B3FF-087A38D7D727}" dt="2026-01-10T12:27:36.522" v="162" actId="20577"/>
          <ac:spMkLst>
            <pc:docMk/>
            <pc:sldMk cId="0" sldId="277"/>
            <ac:spMk id="5" creationId="{3D269377-C673-FB1A-AC9C-E3ED92891DD1}"/>
          </ac:spMkLst>
        </pc:spChg>
        <pc:spChg chg="add del mod ord">
          <ac:chgData name="Itisha Sahu" userId="1d4b99e1e8e3cd8d" providerId="LiveId" clId="{4D1637BB-66B2-4D30-B3FF-087A38D7D727}" dt="2026-01-10T12:23:41.558" v="137" actId="700"/>
          <ac:spMkLst>
            <pc:docMk/>
            <pc:sldMk cId="0" sldId="277"/>
            <ac:spMk id="6" creationId="{B86A317F-31F0-17E2-6161-0E038773B0E4}"/>
          </ac:spMkLst>
        </pc:spChg>
        <pc:spChg chg="add del mod ord">
          <ac:chgData name="Itisha Sahu" userId="1d4b99e1e8e3cd8d" providerId="LiveId" clId="{4D1637BB-66B2-4D30-B3FF-087A38D7D727}" dt="2026-01-10T12:23:50.525" v="138" actId="700"/>
          <ac:spMkLst>
            <pc:docMk/>
            <pc:sldMk cId="0" sldId="277"/>
            <ac:spMk id="7" creationId="{D3A05BAA-37CF-F6CC-BCA7-69A29DC2B3E6}"/>
          </ac:spMkLst>
        </pc:spChg>
        <pc:spChg chg="add del mod ord">
          <ac:chgData name="Itisha Sahu" userId="1d4b99e1e8e3cd8d" providerId="LiveId" clId="{4D1637BB-66B2-4D30-B3FF-087A38D7D727}" dt="2026-01-10T12:23:50.525" v="138" actId="700"/>
          <ac:spMkLst>
            <pc:docMk/>
            <pc:sldMk cId="0" sldId="277"/>
            <ac:spMk id="8" creationId="{F4A25079-0654-9AB2-713B-5FDBA08C52A2}"/>
          </ac:spMkLst>
        </pc:spChg>
        <pc:spChg chg="del mod">
          <ac:chgData name="Itisha Sahu" userId="1d4b99e1e8e3cd8d" providerId="LiveId" clId="{4D1637BB-66B2-4D30-B3FF-087A38D7D727}" dt="2026-01-10T12:21:42.405" v="129" actId="21"/>
          <ac:spMkLst>
            <pc:docMk/>
            <pc:sldMk cId="0" sldId="277"/>
            <ac:spMk id="309" creationId="{00000000-0000-0000-0000-000000000000}"/>
          </ac:spMkLst>
        </pc:spChg>
        <pc:spChg chg="mod">
          <ac:chgData name="Itisha Sahu" userId="1d4b99e1e8e3cd8d" providerId="LiveId" clId="{4D1637BB-66B2-4D30-B3FF-087A38D7D727}" dt="2026-01-10T12:24:07.427" v="141" actId="14100"/>
          <ac:spMkLst>
            <pc:docMk/>
            <pc:sldMk cId="0" sldId="277"/>
            <ac:spMk id="310" creationId="{00000000-0000-0000-0000-000000000000}"/>
          </ac:spMkLst>
        </pc:spChg>
      </pc:sldChg>
      <pc:sldChg chg="addSp modSp mod">
        <pc:chgData name="Itisha Sahu" userId="1d4b99e1e8e3cd8d" providerId="LiveId" clId="{4D1637BB-66B2-4D30-B3FF-087A38D7D727}" dt="2026-01-10T12:30:58.482" v="176" actId="12"/>
        <pc:sldMkLst>
          <pc:docMk/>
          <pc:sldMk cId="0" sldId="278"/>
        </pc:sldMkLst>
        <pc:spChg chg="add mod">
          <ac:chgData name="Itisha Sahu" userId="1d4b99e1e8e3cd8d" providerId="LiveId" clId="{4D1637BB-66B2-4D30-B3FF-087A38D7D727}" dt="2026-01-10T12:30:58.482" v="176" actId="12"/>
          <ac:spMkLst>
            <pc:docMk/>
            <pc:sldMk cId="0" sldId="278"/>
            <ac:spMk id="2" creationId="{2B07D961-A87A-1051-9E49-CC897406D7D1}"/>
          </ac:spMkLst>
        </pc:spChg>
        <pc:spChg chg="mod">
          <ac:chgData name="Itisha Sahu" userId="1d4b99e1e8e3cd8d" providerId="LiveId" clId="{4D1637BB-66B2-4D30-B3FF-087A38D7D727}" dt="2026-01-10T12:30:48.922" v="174" actId="14100"/>
          <ac:spMkLst>
            <pc:docMk/>
            <pc:sldMk cId="0" sldId="278"/>
            <ac:spMk id="315" creationId="{00000000-0000-0000-0000-000000000000}"/>
          </ac:spMkLst>
        </pc:spChg>
        <pc:spChg chg="mod">
          <ac:chgData name="Itisha Sahu" userId="1d4b99e1e8e3cd8d" providerId="LiveId" clId="{4D1637BB-66B2-4D30-B3FF-087A38D7D727}" dt="2026-01-10T12:28:52.739" v="165" actId="14100"/>
          <ac:spMkLst>
            <pc:docMk/>
            <pc:sldMk cId="0" sldId="278"/>
            <ac:spMk id="316" creationId="{00000000-0000-0000-0000-000000000000}"/>
          </ac:spMkLst>
        </pc:spChg>
      </pc:sldChg>
      <pc:sldChg chg="addSp delSp modSp mod chgLayout">
        <pc:chgData name="Itisha Sahu" userId="1d4b99e1e8e3cd8d" providerId="LiveId" clId="{4D1637BB-66B2-4D30-B3FF-087A38D7D727}" dt="2026-01-10T13:06:25.192" v="3416" actId="14100"/>
        <pc:sldMkLst>
          <pc:docMk/>
          <pc:sldMk cId="0" sldId="279"/>
        </pc:sldMkLst>
        <pc:spChg chg="add del mod ord">
          <ac:chgData name="Itisha Sahu" userId="1d4b99e1e8e3cd8d" providerId="LiveId" clId="{4D1637BB-66B2-4D30-B3FF-087A38D7D727}" dt="2026-01-10T13:05:52.182" v="3402" actId="700"/>
          <ac:spMkLst>
            <pc:docMk/>
            <pc:sldMk cId="0" sldId="279"/>
            <ac:spMk id="2" creationId="{81CBECEE-FB7E-4949-E3EE-49C45130F8A7}"/>
          </ac:spMkLst>
        </pc:spChg>
        <pc:spChg chg="mod ord">
          <ac:chgData name="Itisha Sahu" userId="1d4b99e1e8e3cd8d" providerId="LiveId" clId="{4D1637BB-66B2-4D30-B3FF-087A38D7D727}" dt="2026-01-10T13:06:25.192" v="3416" actId="14100"/>
          <ac:spMkLst>
            <pc:docMk/>
            <pc:sldMk cId="0" sldId="279"/>
            <ac:spMk id="321" creationId="{00000000-0000-0000-0000-000000000000}"/>
          </ac:spMkLst>
        </pc:spChg>
      </pc:sldChg>
      <pc:sldChg chg="modSp mod chgLayout">
        <pc:chgData name="Itisha Sahu" userId="1d4b99e1e8e3cd8d" providerId="LiveId" clId="{4D1637BB-66B2-4D30-B3FF-087A38D7D727}" dt="2026-01-10T13:08:25.873" v="3465" actId="20577"/>
        <pc:sldMkLst>
          <pc:docMk/>
          <pc:sldMk cId="0" sldId="280"/>
        </pc:sldMkLst>
        <pc:spChg chg="mod ord">
          <ac:chgData name="Itisha Sahu" userId="1d4b99e1e8e3cd8d" providerId="LiveId" clId="{4D1637BB-66B2-4D30-B3FF-087A38D7D727}" dt="2026-01-10T13:06:37.939" v="3417" actId="1076"/>
          <ac:spMkLst>
            <pc:docMk/>
            <pc:sldMk cId="0" sldId="280"/>
            <ac:spMk id="326" creationId="{00000000-0000-0000-0000-000000000000}"/>
          </ac:spMkLst>
        </pc:spChg>
        <pc:spChg chg="mod ord">
          <ac:chgData name="Itisha Sahu" userId="1d4b99e1e8e3cd8d" providerId="LiveId" clId="{4D1637BB-66B2-4D30-B3FF-087A38D7D727}" dt="2026-01-10T13:08:25.873" v="3465" actId="20577"/>
          <ac:spMkLst>
            <pc:docMk/>
            <pc:sldMk cId="0" sldId="280"/>
            <ac:spMk id="327" creationId="{00000000-0000-0000-0000-000000000000}"/>
          </ac:spMkLst>
        </pc:spChg>
      </pc:sldChg>
      <pc:sldChg chg="addSp delSp modSp new mod modClrScheme chgLayout">
        <pc:chgData name="Itisha Sahu" userId="1d4b99e1e8e3cd8d" providerId="LiveId" clId="{4D1637BB-66B2-4D30-B3FF-087A38D7D727}" dt="2026-01-10T12:09:26.155" v="123" actId="700"/>
        <pc:sldMkLst>
          <pc:docMk/>
          <pc:sldMk cId="100905455" sldId="283"/>
        </pc:sldMkLst>
        <pc:picChg chg="add mod">
          <ac:chgData name="Itisha Sahu" userId="1d4b99e1e8e3cd8d" providerId="LiveId" clId="{4D1637BB-66B2-4D30-B3FF-087A38D7D727}" dt="2025-12-19T10:37:44.791" v="9" actId="14100"/>
          <ac:picMkLst>
            <pc:docMk/>
            <pc:sldMk cId="100905455" sldId="283"/>
            <ac:picMk id="5" creationId="{E18459EE-6A58-AD19-DC40-B6EBD63C2522}"/>
          </ac:picMkLst>
        </pc:picChg>
      </pc:sldChg>
      <pc:sldChg chg="addSp delSp modSp new mod modClrScheme chgLayout">
        <pc:chgData name="Itisha Sahu" userId="1d4b99e1e8e3cd8d" providerId="LiveId" clId="{4D1637BB-66B2-4D30-B3FF-087A38D7D727}" dt="2025-12-19T10:46:50.812" v="18" actId="14100"/>
        <pc:sldMkLst>
          <pc:docMk/>
          <pc:sldMk cId="2541979456" sldId="284"/>
        </pc:sldMkLst>
        <pc:picChg chg="add mod">
          <ac:chgData name="Itisha Sahu" userId="1d4b99e1e8e3cd8d" providerId="LiveId" clId="{4D1637BB-66B2-4D30-B3FF-087A38D7D727}" dt="2025-12-19T10:46:50.812" v="18" actId="14100"/>
          <ac:picMkLst>
            <pc:docMk/>
            <pc:sldMk cId="2541979456" sldId="284"/>
            <ac:picMk id="5" creationId="{8C3D3BCF-E5FC-7115-6770-B2EF64879197}"/>
          </ac:picMkLst>
        </pc:picChg>
      </pc:sldChg>
      <pc:sldChg chg="addSp modSp new mod">
        <pc:chgData name="Itisha Sahu" userId="1d4b99e1e8e3cd8d" providerId="LiveId" clId="{4D1637BB-66B2-4D30-B3FF-087A38D7D727}" dt="2026-01-10T12:07:41.231" v="90" actId="14100"/>
        <pc:sldMkLst>
          <pc:docMk/>
          <pc:sldMk cId="327388387" sldId="285"/>
        </pc:sldMkLst>
        <pc:picChg chg="add mod">
          <ac:chgData name="Itisha Sahu" userId="1d4b99e1e8e3cd8d" providerId="LiveId" clId="{4D1637BB-66B2-4D30-B3FF-087A38D7D727}" dt="2026-01-10T12:07:41.231" v="90" actId="14100"/>
          <ac:picMkLst>
            <pc:docMk/>
            <pc:sldMk cId="327388387" sldId="285"/>
            <ac:picMk id="3" creationId="{D43123EF-C1B7-F6B4-3D22-BDA929723CD2}"/>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1d4b99e1e8e3cd8d/Documents/E-commerce%20%20Project/excel%20Dashboard.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1d4b99e1e8e3cd8d/Documents/E-commerce%20%20Project/excel%20Dashboard.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oleObject" Target="https://d.docs.live.net/1d4b99e1e8e3cd8d/Documents/E-commerce%20%20Project/excel%20Dashboard.xlsx" TargetMode="Externa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1d4b99e1e8e3cd8d/Documents/E-commerce%20%20Project/excel%20Dashboard.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1d4b99e1e8e3cd8d/Documents/E-commerce%20%20Project/excel%20Dashboard.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[excel Dashboard.xlsx]WeekdayWeekend!PivotTable12</c:name>
    <c:fmtId val="6"/>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1200" spc="0" baseline="0">
                <a:solidFill>
                  <a:sysClr val="windowText" lastClr="000000">
                    <a:lumMod val="65000"/>
                    <a:lumOff val="35000"/>
                  </a:sysClr>
                </a:solidFill>
                <a:latin typeface="+mn-lt"/>
                <a:ea typeface="+mn-ea"/>
                <a:cs typeface="+mn-cs"/>
              </a:defRPr>
            </a:pPr>
            <a:r>
              <a:rPr lang="en-US" sz="1800" b="1" i="0" u="none" strike="noStrike" kern="1200" spc="0" baseline="0">
                <a:solidFill>
                  <a:schemeClr val="tx1"/>
                </a:solidFill>
              </a:rPr>
              <a:t>Weekday/Weekend Payment</a:t>
            </a:r>
          </a:p>
          <a:p>
            <a:pPr marL="0" marR="0" lvl="0" indent="0" algn="ctr" defTabSz="914400" rtl="0" eaLnBrk="1" fontAlgn="auto" latinLnBrk="0" hangingPunct="1">
              <a:lnSpc>
                <a:spcPct val="100000"/>
              </a:lnSpc>
              <a:spcBef>
                <a:spcPts val="0"/>
              </a:spcBef>
              <a:spcAft>
                <a:spcPts val="0"/>
              </a:spcAft>
              <a:buClrTx/>
              <a:buSzTx/>
              <a:buFontTx/>
              <a:buNone/>
              <a:tabLst/>
              <a:defRPr sz="1800">
                <a:solidFill>
                  <a:sysClr val="windowText" lastClr="000000">
                    <a:lumMod val="65000"/>
                    <a:lumOff val="35000"/>
                  </a:sysClr>
                </a:solidFill>
              </a:defRPr>
            </a:pPr>
            <a:endParaRPr lang="en-US" sz="1800"/>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200" b="1" i="0" u="none" strike="noStrike" kern="1200" baseline="0">
                  <a:solidFill>
                    <a:schemeClr val="tx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200" b="1" i="0" u="none" strike="noStrike" kern="1200" baseline="0">
                  <a:solidFill>
                    <a:schemeClr val="tx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200" b="1" i="0" u="none" strike="noStrike" kern="1200" baseline="0">
                  <a:solidFill>
                    <a:schemeClr val="tx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200" b="1" i="0" u="none" strike="noStrike" kern="1200" baseline="0">
                  <a:solidFill>
                    <a:schemeClr val="tx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200" b="1" i="0" u="none" strike="noStrike" kern="1200" baseline="0">
                  <a:solidFill>
                    <a:schemeClr val="tx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s>
    <c:plotArea>
      <c:layout>
        <c:manualLayout>
          <c:layoutTarget val="inner"/>
          <c:xMode val="edge"/>
          <c:yMode val="edge"/>
          <c:x val="0.22245737140000357"/>
          <c:y val="0.14051529887635936"/>
          <c:w val="0.58229614155373433"/>
          <c:h val="0.81833205361758077"/>
        </c:manualLayout>
      </c:layout>
      <c:pieChart>
        <c:varyColors val="1"/>
        <c:ser>
          <c:idx val="0"/>
          <c:order val="0"/>
          <c:tx>
            <c:strRef>
              <c:f>WeekdayWeekend!$B$6</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354F-4DD9-8BC4-28742DF3F597}"/>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354F-4DD9-8BC4-28742DF3F597}"/>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200" b="1" i="0" u="none" strike="noStrike" kern="1200" baseline="0">
                    <a:solidFill>
                      <a:schemeClr val="tx1"/>
                    </a:solidFill>
                    <a:latin typeface="+mn-lt"/>
                    <a:ea typeface="+mn-ea"/>
                    <a:cs typeface="+mn-cs"/>
                  </a:defRPr>
                </a:pPr>
                <a:endParaRPr lang="en-US"/>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WeekdayWeekend!$A$7:$A$9</c:f>
              <c:strCache>
                <c:ptCount val="2"/>
                <c:pt idx="0">
                  <c:v>Weekday</c:v>
                </c:pt>
                <c:pt idx="1">
                  <c:v>Weekend</c:v>
                </c:pt>
              </c:strCache>
            </c:strRef>
          </c:cat>
          <c:val>
            <c:numRef>
              <c:f>WeekdayWeekend!$B$7:$B$9</c:f>
              <c:numCache>
                <c:formatCode>0</c:formatCode>
                <c:ptCount val="2"/>
                <c:pt idx="0">
                  <c:v>13169980.579999346</c:v>
                </c:pt>
                <c:pt idx="1">
                  <c:v>3893050.2399999318</c:v>
                </c:pt>
              </c:numCache>
            </c:numRef>
          </c:val>
          <c:extLst>
            <c:ext xmlns:c16="http://schemas.microsoft.com/office/drawing/2014/chart" uri="{C3380CC4-5D6E-409C-BE32-E72D297353CC}">
              <c16:uniqueId val="{00000004-354F-4DD9-8BC4-28742DF3F597}"/>
            </c:ext>
          </c:extLst>
        </c:ser>
        <c:dLbls>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[excel Dashboard.xlsx]Payment type reviews!PivotTable11</c:name>
    <c:fmtId val="5"/>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1200" spc="0" baseline="0">
                <a:solidFill>
                  <a:sysClr val="windowText" lastClr="000000">
                    <a:lumMod val="65000"/>
                    <a:lumOff val="35000"/>
                  </a:sysClr>
                </a:solidFill>
                <a:latin typeface="+mn-lt"/>
                <a:ea typeface="+mn-ea"/>
                <a:cs typeface="+mn-cs"/>
              </a:defRPr>
            </a:pPr>
            <a:r>
              <a:rPr lang="en-US" sz="1800" b="1" i="0" u="none" strike="noStrike" kern="1200" spc="0" baseline="0">
                <a:solidFill>
                  <a:schemeClr val="tx1"/>
                </a:solidFill>
              </a:rPr>
              <a:t>Payment type with review score 5</a:t>
            </a:r>
          </a:p>
          <a:p>
            <a:pPr marL="0" marR="0" lvl="0" indent="0" algn="ctr" defTabSz="914400" rtl="0" eaLnBrk="1" fontAlgn="auto" latinLnBrk="0" hangingPunct="1">
              <a:lnSpc>
                <a:spcPct val="100000"/>
              </a:lnSpc>
              <a:spcBef>
                <a:spcPts val="0"/>
              </a:spcBef>
              <a:spcAft>
                <a:spcPts val="0"/>
              </a:spcAft>
              <a:buClrTx/>
              <a:buSzTx/>
              <a:buFontTx/>
              <a:buNone/>
              <a:tabLst/>
              <a:defRPr sz="1800">
                <a:solidFill>
                  <a:sysClr val="windowText" lastClr="000000">
                    <a:lumMod val="65000"/>
                    <a:lumOff val="35000"/>
                  </a:sysClr>
                </a:solidFill>
              </a:defRPr>
            </a:pPr>
            <a:endParaRPr lang="en-US" sz="1800"/>
          </a:p>
        </c:rich>
      </c:tx>
      <c:layout>
        <c:manualLayout>
          <c:xMode val="edge"/>
          <c:yMode val="edge"/>
          <c:x val="0.2659919295802311"/>
          <c:y val="1.8993352326685659E-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6.8103122273767136E-2"/>
          <c:y val="0.11761952524239384"/>
          <c:w val="0.90574376312803984"/>
          <c:h val="0.75906856078725715"/>
        </c:manualLayout>
      </c:layout>
      <c:barChart>
        <c:barDir val="col"/>
        <c:grouping val="clustered"/>
        <c:varyColors val="0"/>
        <c:ser>
          <c:idx val="0"/>
          <c:order val="0"/>
          <c:tx>
            <c:strRef>
              <c:f>'Payment type reviews'!$B$5:$B$6</c:f>
              <c:strCache>
                <c:ptCount val="1"/>
                <c:pt idx="0">
                  <c:v>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'Payment type reviews'!$A$7:$A$11</c:f>
              <c:strCache>
                <c:ptCount val="4"/>
                <c:pt idx="0">
                  <c:v>credit_card</c:v>
                </c:pt>
                <c:pt idx="1">
                  <c:v>boleto</c:v>
                </c:pt>
                <c:pt idx="2">
                  <c:v>voucher</c:v>
                </c:pt>
                <c:pt idx="3">
                  <c:v>debit_card</c:v>
                </c:pt>
              </c:strCache>
            </c:strRef>
          </c:cat>
          <c:val>
            <c:numRef>
              <c:f>'Payment type reviews'!$B$7:$B$11</c:f>
              <c:numCache>
                <c:formatCode>0,"K"</c:formatCode>
                <c:ptCount val="4"/>
                <c:pt idx="0">
                  <c:v>43981</c:v>
                </c:pt>
                <c:pt idx="1">
                  <c:v>11283</c:v>
                </c:pt>
                <c:pt idx="2">
                  <c:v>2150</c:v>
                </c:pt>
                <c:pt idx="3">
                  <c:v>922</c:v>
                </c:pt>
              </c:numCache>
            </c:numRef>
          </c:val>
          <c:extLst>
            <c:ext xmlns:c16="http://schemas.microsoft.com/office/drawing/2014/chart" uri="{C3380CC4-5D6E-409C-BE32-E72D297353CC}">
              <c16:uniqueId val="{00000000-5007-4A99-81D6-A1C0163DB892}"/>
            </c:ext>
          </c:extLst>
        </c:ser>
        <c:dLbls>
          <c:dLblPos val="outEnd"/>
          <c:showLegendKey val="0"/>
          <c:showVal val="1"/>
          <c:showCatName val="0"/>
          <c:showSerName val="0"/>
          <c:showPercent val="0"/>
          <c:showBubbleSize val="0"/>
        </c:dLbls>
        <c:gapWidth val="219"/>
        <c:overlap val="-27"/>
        <c:axId val="662346447"/>
        <c:axId val="662337807"/>
      </c:barChart>
      <c:catAx>
        <c:axId val="6623464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662337807"/>
        <c:crosses val="autoZero"/>
        <c:auto val="1"/>
        <c:lblAlgn val="ctr"/>
        <c:lblOffset val="100"/>
        <c:noMultiLvlLbl val="0"/>
      </c:catAx>
      <c:valAx>
        <c:axId val="662337807"/>
        <c:scaling>
          <c:orientation val="minMax"/>
        </c:scaling>
        <c:delete val="0"/>
        <c:axPos val="l"/>
        <c:numFmt formatCode="0,&quot;K&quot;"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6623464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[excel Dashboard.xlsx]Shipping days for product!PivotTable7</c:name>
    <c:fmtId val="5"/>
  </c:pivotSource>
  <c:chart>
    <c:title>
      <c:tx>
        <c:rich>
          <a:bodyPr/>
          <a:lstStyle/>
          <a:p>
            <a:pPr>
              <a:defRPr/>
            </a:pPr>
            <a:r>
              <a:rPr lang="en-IN"/>
              <a:t>Average</a:t>
            </a:r>
            <a:r>
              <a:rPr lang="en-IN" baseline="0"/>
              <a:t> shipping Days for Product</a:t>
            </a:r>
            <a:endParaRPr lang="en-IN"/>
          </a:p>
        </c:rich>
      </c:tx>
      <c:overlay val="0"/>
    </c:title>
    <c:autoTitleDeleted val="0"/>
    <c:pivotFmts>
      <c:pivotFmt>
        <c:idx val="0"/>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3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1"/>
        <c:spPr>
          <a:solidFill>
            <a:schemeClr val="accent1"/>
          </a:solidFill>
          <a:ln w="19050">
            <a:solidFill>
              <a:schemeClr val="lt1"/>
            </a:solidFill>
          </a:ln>
          <a:effectLst/>
        </c:spP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3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3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11"/>
        <c:spPr>
          <a:solidFill>
            <a:schemeClr val="accent1"/>
          </a:solidFill>
          <a:ln w="19050">
            <a:solidFill>
              <a:schemeClr val="lt1"/>
            </a:solidFill>
          </a:ln>
          <a:effectLst/>
        </c:spPr>
      </c:pivotFmt>
      <c:pivotFmt>
        <c:idx val="12"/>
        <c:spPr>
          <a:solidFill>
            <a:schemeClr val="accent2"/>
          </a:solidFill>
          <a:ln w="19050">
            <a:solidFill>
              <a:schemeClr val="lt1"/>
            </a:solidFill>
          </a:ln>
          <a:effectLst/>
        </c:spPr>
      </c:pivotFmt>
      <c:pivotFmt>
        <c:idx val="13"/>
        <c:spPr>
          <a:solidFill>
            <a:schemeClr val="accent3"/>
          </a:solidFill>
          <a:ln w="19050">
            <a:solidFill>
              <a:schemeClr val="lt1"/>
            </a:solidFill>
          </a:ln>
          <a:effectLst/>
        </c:spPr>
      </c:pivotFmt>
      <c:pivotFmt>
        <c:idx val="14"/>
        <c:spPr>
          <a:solidFill>
            <a:schemeClr val="accent4"/>
          </a:solidFill>
          <a:ln w="19050">
            <a:solidFill>
              <a:schemeClr val="lt1"/>
            </a:solidFill>
          </a:ln>
          <a:effectLst/>
        </c:spPr>
      </c:pivotFmt>
      <c:pivotFmt>
        <c:idx val="15"/>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3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16"/>
        <c:spPr>
          <a:solidFill>
            <a:schemeClr val="accent1"/>
          </a:solidFill>
          <a:ln w="19050">
            <a:solidFill>
              <a:schemeClr val="lt1"/>
            </a:solidFill>
          </a:ln>
          <a:effectLst/>
        </c:spPr>
      </c:pivotFmt>
      <c:pivotFmt>
        <c:idx val="17"/>
        <c:spPr>
          <a:solidFill>
            <a:schemeClr val="accent2"/>
          </a:solidFill>
          <a:ln w="19050">
            <a:solidFill>
              <a:schemeClr val="lt1"/>
            </a:solidFill>
          </a:ln>
          <a:effectLst/>
        </c:spPr>
      </c:pivotFmt>
      <c:pivotFmt>
        <c:idx val="18"/>
        <c:spPr>
          <a:solidFill>
            <a:schemeClr val="accent3"/>
          </a:solidFill>
          <a:ln w="19050">
            <a:solidFill>
              <a:schemeClr val="lt1"/>
            </a:solidFill>
          </a:ln>
          <a:effectLst/>
        </c:spPr>
      </c:pivotFmt>
      <c:pivotFmt>
        <c:idx val="19"/>
        <c:spPr>
          <a:solidFill>
            <a:schemeClr val="accent4"/>
          </a:solidFill>
          <a:ln w="19050">
            <a:solidFill>
              <a:schemeClr val="lt1"/>
            </a:solidFill>
          </a:ln>
          <a:effectLst/>
        </c:spPr>
      </c:pivotFmt>
      <c:pivotFmt>
        <c:idx val="20"/>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3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21"/>
        <c:spPr>
          <a:solidFill>
            <a:schemeClr val="accent1"/>
          </a:solidFill>
          <a:ln w="19050">
            <a:solidFill>
              <a:schemeClr val="lt1"/>
            </a:solidFill>
          </a:ln>
          <a:effectLst/>
        </c:spPr>
      </c:pivotFmt>
      <c:pivotFmt>
        <c:idx val="22"/>
        <c:spPr>
          <a:solidFill>
            <a:schemeClr val="accent2"/>
          </a:solidFill>
          <a:ln w="19050">
            <a:solidFill>
              <a:schemeClr val="lt1"/>
            </a:solidFill>
          </a:ln>
          <a:effectLst/>
        </c:spPr>
      </c:pivotFmt>
      <c:pivotFmt>
        <c:idx val="23"/>
        <c:spPr>
          <a:solidFill>
            <a:schemeClr val="accent3"/>
          </a:solidFill>
          <a:ln w="19050">
            <a:solidFill>
              <a:schemeClr val="lt1"/>
            </a:solidFill>
          </a:ln>
          <a:effectLst/>
        </c:spPr>
      </c:pivotFmt>
      <c:pivotFmt>
        <c:idx val="24"/>
        <c:spPr>
          <a:solidFill>
            <a:schemeClr val="accent4"/>
          </a:solidFill>
          <a:ln w="19050">
            <a:solidFill>
              <a:schemeClr val="lt1"/>
            </a:solidFill>
          </a:ln>
          <a:effectLst/>
        </c:spPr>
      </c:pivotFmt>
      <c:pivotFmt>
        <c:idx val="25"/>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3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26"/>
        <c:spPr>
          <a:solidFill>
            <a:schemeClr val="accent1"/>
          </a:solidFill>
          <a:ln w="19050">
            <a:solidFill>
              <a:schemeClr val="lt1"/>
            </a:solidFill>
          </a:ln>
          <a:effectLst/>
        </c:spPr>
      </c:pivotFmt>
      <c:pivotFmt>
        <c:idx val="27"/>
        <c:spPr>
          <a:solidFill>
            <a:schemeClr val="accent2"/>
          </a:solidFill>
          <a:ln w="19050">
            <a:solidFill>
              <a:schemeClr val="lt1"/>
            </a:solidFill>
          </a:ln>
          <a:effectLst/>
        </c:spPr>
      </c:pivotFmt>
      <c:pivotFmt>
        <c:idx val="28"/>
        <c:spPr>
          <a:solidFill>
            <a:schemeClr val="accent3"/>
          </a:solidFill>
          <a:ln w="19050">
            <a:solidFill>
              <a:schemeClr val="lt1"/>
            </a:solidFill>
          </a:ln>
          <a:effectLst/>
        </c:spPr>
      </c:pivotFmt>
      <c:pivotFmt>
        <c:idx val="29"/>
        <c:spPr>
          <a:solidFill>
            <a:schemeClr val="accent4"/>
          </a:solidFill>
          <a:ln w="19050">
            <a:solidFill>
              <a:schemeClr val="lt1"/>
            </a:solidFill>
          </a:ln>
          <a:effectLst/>
        </c:spPr>
      </c:pivotFmt>
      <c:pivotFmt>
        <c:idx val="30"/>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3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31"/>
        <c:spPr>
          <a:solidFill>
            <a:schemeClr val="accent1"/>
          </a:solidFill>
          <a:ln w="19050">
            <a:solidFill>
              <a:schemeClr val="lt1"/>
            </a:solidFill>
          </a:ln>
          <a:effectLst/>
        </c:spPr>
      </c:pivotFmt>
      <c:pivotFmt>
        <c:idx val="32"/>
        <c:spPr>
          <a:solidFill>
            <a:schemeClr val="accent2"/>
          </a:solidFill>
          <a:ln w="19050">
            <a:solidFill>
              <a:schemeClr val="lt1"/>
            </a:solidFill>
          </a:ln>
          <a:effectLst/>
        </c:spPr>
      </c:pivotFmt>
      <c:pivotFmt>
        <c:idx val="33"/>
        <c:spPr>
          <a:solidFill>
            <a:schemeClr val="accent3"/>
          </a:solidFill>
          <a:ln w="19050">
            <a:solidFill>
              <a:schemeClr val="lt1"/>
            </a:solidFill>
          </a:ln>
          <a:effectLst/>
        </c:spPr>
      </c:pivotFmt>
      <c:pivotFmt>
        <c:idx val="34"/>
        <c:spPr>
          <a:solidFill>
            <a:schemeClr val="accent4"/>
          </a:solidFill>
          <a:ln w="19050">
            <a:solidFill>
              <a:schemeClr val="lt1"/>
            </a:solidFill>
          </a:ln>
          <a:effectLst/>
        </c:spPr>
      </c:pivotFmt>
    </c:pivotFmts>
    <c:plotArea>
      <c:layout/>
      <c:doughnutChart>
        <c:varyColors val="1"/>
        <c:ser>
          <c:idx val="0"/>
          <c:order val="0"/>
          <c:tx>
            <c:strRef>
              <c:f>'Shipping days for product'!$B$5</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52E-4815-9E8F-88057E43F6D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52E-4815-9E8F-88057E43F6D9}"/>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52E-4815-9E8F-88057E43F6D9}"/>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52E-4815-9E8F-88057E43F6D9}"/>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3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wedgeRectCallout">
                    <a:avLst/>
                  </a:prstGeom>
                </c15:spPr>
              </c:ext>
            </c:extLst>
          </c:dLbls>
          <c:cat>
            <c:strRef>
              <c:f>'Shipping days for product'!$A$6:$A$10</c:f>
              <c:strCache>
                <c:ptCount val="4"/>
                <c:pt idx="0">
                  <c:v>alimentos</c:v>
                </c:pt>
                <c:pt idx="1">
                  <c:v>eletronicos</c:v>
                </c:pt>
                <c:pt idx="2">
                  <c:v>perfumaria</c:v>
                </c:pt>
                <c:pt idx="3">
                  <c:v>pet_shop</c:v>
                </c:pt>
              </c:strCache>
            </c:strRef>
          </c:cat>
          <c:val>
            <c:numRef>
              <c:f>'Shipping days for product'!$B$6:$B$10</c:f>
              <c:numCache>
                <c:formatCode>0</c:formatCode>
                <c:ptCount val="4"/>
                <c:pt idx="0">
                  <c:v>9.7719298245614041</c:v>
                </c:pt>
                <c:pt idx="1">
                  <c:v>12.844913627639155</c:v>
                </c:pt>
                <c:pt idx="2">
                  <c:v>11.884557268056815</c:v>
                </c:pt>
                <c:pt idx="3">
                  <c:v>11.260989010989011</c:v>
                </c:pt>
              </c:numCache>
            </c:numRef>
          </c:val>
          <c:extLst>
            <c:ext xmlns:c16="http://schemas.microsoft.com/office/drawing/2014/chart" uri="{C3380CC4-5D6E-409C-BE32-E72D297353CC}">
              <c16:uniqueId val="{00000008-752E-4815-9E8F-88057E43F6D9}"/>
            </c:ext>
          </c:extLst>
        </c:ser>
        <c:dLbls>
          <c:showLegendKey val="0"/>
          <c:showVal val="1"/>
          <c:showCatName val="0"/>
          <c:showSerName val="0"/>
          <c:showPercent val="0"/>
          <c:showBubbleSize val="0"/>
          <c:showLeaderLines val="1"/>
        </c:dLbls>
        <c:firstSliceAng val="0"/>
        <c:holeSize val="75"/>
      </c:doughnutChart>
    </c:plotArea>
    <c:legend>
      <c:legendPos val="r"/>
      <c:layout>
        <c:manualLayout>
          <c:xMode val="edge"/>
          <c:yMode val="edge"/>
          <c:x val="0.70450050731740876"/>
          <c:y val="0.36804362898033971"/>
          <c:w val="0.22631711506733795"/>
          <c:h val="0.33245373293077746"/>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n-US"/>
        </a:p>
      </c:txPr>
    </c:legend>
    <c:plotVisOnly val="1"/>
    <c:dispBlanksAs val="gap"/>
    <c:showDLblsOverMax val="0"/>
    <c:extLst/>
  </c:chart>
  <c:txPr>
    <a:bodyPr/>
    <a:lstStyle/>
    <a:p>
      <a:pPr>
        <a:defRPr/>
      </a:pPr>
      <a:endParaRPr lang="en-US"/>
    </a:p>
  </c:txPr>
  <c:externalData r:id="rId1">
    <c:autoUpdate val="0"/>
  </c:externalData>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[excel Dashboard.xlsx]Avg price&amp;payment for saopaulo!PivotTable9</c:name>
    <c:fmtId val="8"/>
  </c:pivotSource>
  <c:chart>
    <c:autoTitleDeleted val="0"/>
    <c:pivotFmts>
      <c:pivotFmt>
        <c:idx val="0"/>
        <c:spPr>
          <a:solidFill>
            <a:schemeClr val="accent1"/>
          </a:solidFill>
          <a:ln>
            <a:noFill/>
          </a:ln>
          <a:effectLst/>
        </c:spPr>
        <c:marker>
          <c:symbol val="circle"/>
          <c:size val="8"/>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circle"/>
          <c:size val="8"/>
          <c:spPr>
            <a:solidFill>
              <a:schemeClr val="accent2"/>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16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16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16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8.4103523944752789E-2"/>
          <c:y val="4.6525372829983418E-2"/>
          <c:w val="0.66677534752600365"/>
          <c:h val="0.84482462982221573"/>
        </c:manualLayout>
      </c:layout>
      <c:barChart>
        <c:barDir val="col"/>
        <c:grouping val="clustered"/>
        <c:varyColors val="0"/>
        <c:ser>
          <c:idx val="0"/>
          <c:order val="0"/>
          <c:tx>
            <c:strRef>
              <c:f>'Avg price&amp;payment for saopaulo'!$B$6</c:f>
              <c:strCache>
                <c:ptCount val="1"/>
                <c:pt idx="0">
                  <c:v>Average of price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'Avg price&amp;payment for saopaulo'!$A$7:$A$8</c:f>
              <c:strCache>
                <c:ptCount val="1"/>
                <c:pt idx="0">
                  <c:v>sao paulo</c:v>
                </c:pt>
              </c:strCache>
            </c:strRef>
          </c:cat>
          <c:val>
            <c:numRef>
              <c:f>'Avg price&amp;payment for saopaulo'!$B$7:$B$8</c:f>
              <c:numCache>
                <c:formatCode>0</c:formatCode>
                <c:ptCount val="1"/>
                <c:pt idx="0">
                  <c:v>98.957719031510109</c:v>
                </c:pt>
              </c:numCache>
            </c:numRef>
          </c:val>
          <c:extLst>
            <c:ext xmlns:c16="http://schemas.microsoft.com/office/drawing/2014/chart" uri="{C3380CC4-5D6E-409C-BE32-E72D297353CC}">
              <c16:uniqueId val="{00000000-1B7D-4CE1-8A8E-706BB57B7E05}"/>
            </c:ext>
          </c:extLst>
        </c:ser>
        <c:ser>
          <c:idx val="1"/>
          <c:order val="1"/>
          <c:tx>
            <c:strRef>
              <c:f>'Avg price&amp;payment for saopaulo'!$C$6</c:f>
              <c:strCache>
                <c:ptCount val="1"/>
                <c:pt idx="0">
                  <c:v>Average of payment_value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6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'Avg price&amp;payment for saopaulo'!$A$7:$A$8</c:f>
              <c:strCache>
                <c:ptCount val="1"/>
                <c:pt idx="0">
                  <c:v>sao paulo</c:v>
                </c:pt>
              </c:strCache>
            </c:strRef>
          </c:cat>
          <c:val>
            <c:numRef>
              <c:f>'Avg price&amp;payment for saopaulo'!$C$7:$C$8</c:f>
              <c:numCache>
                <c:formatCode>0</c:formatCode>
                <c:ptCount val="1"/>
                <c:pt idx="0">
                  <c:v>128.43313580903916</c:v>
                </c:pt>
              </c:numCache>
            </c:numRef>
          </c:val>
          <c:extLst>
            <c:ext xmlns:c16="http://schemas.microsoft.com/office/drawing/2014/chart" uri="{C3380CC4-5D6E-409C-BE32-E72D297353CC}">
              <c16:uniqueId val="{00000001-1B7D-4CE1-8A8E-706BB57B7E05}"/>
            </c:ext>
          </c:extLst>
        </c:ser>
        <c:dLbls>
          <c:dLblPos val="outEnd"/>
          <c:showLegendKey val="0"/>
          <c:showVal val="1"/>
          <c:showCatName val="0"/>
          <c:showSerName val="0"/>
          <c:showPercent val="0"/>
          <c:showBubbleSize val="0"/>
        </c:dLbls>
        <c:gapWidth val="199"/>
        <c:axId val="1853180008"/>
        <c:axId val="1853161288"/>
      </c:barChart>
      <c:catAx>
        <c:axId val="1853180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cap="none" spc="0" normalizeH="0" baseline="0">
                <a:solidFill>
                  <a:schemeClr val="tx1"/>
                </a:solidFill>
                <a:latin typeface="+mn-lt"/>
                <a:ea typeface="+mn-ea"/>
                <a:cs typeface="+mn-cs"/>
              </a:defRPr>
            </a:pPr>
            <a:endParaRPr lang="en-US"/>
          </a:p>
        </c:txPr>
        <c:crossAx val="1853161288"/>
        <c:crosses val="autoZero"/>
        <c:auto val="1"/>
        <c:lblAlgn val="ctr"/>
        <c:lblOffset val="100"/>
        <c:noMultiLvlLbl val="0"/>
      </c:catAx>
      <c:valAx>
        <c:axId val="185316128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1853180008"/>
        <c:crosses val="autoZero"/>
        <c:crossBetween val="between"/>
      </c:valAx>
      <c:spPr>
        <a:noFill/>
        <a:ln>
          <a:noFill/>
        </a:ln>
        <a:effectLst/>
      </c:spPr>
    </c:plotArea>
    <c:legend>
      <c:legendPos val="r"/>
      <c:layout>
        <c:manualLayout>
          <c:xMode val="edge"/>
          <c:yMode val="edge"/>
          <c:x val="0.6574350059750097"/>
          <c:y val="0.40764564223286515"/>
          <c:w val="0.29020588614947729"/>
          <c:h val="0.1839692228787228"/>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[excel Dashboard.xlsx]Review vs shippingdays!PivotTable10</c:name>
    <c:fmtId val="5"/>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800" b="1" i="0" u="none" strike="noStrike" kern="1200" spc="0" baseline="0">
                <a:solidFill>
                  <a:sysClr val="windowText" lastClr="000000"/>
                </a:solidFill>
                <a:latin typeface="+mn-lt"/>
                <a:ea typeface="+mn-ea"/>
                <a:cs typeface="+mn-cs"/>
              </a:defRPr>
            </a:pPr>
            <a:r>
              <a:rPr lang="en-US" sz="1800" b="1" i="0" u="none" strike="noStrike" kern="1200" spc="0" baseline="0">
                <a:solidFill>
                  <a:schemeClr val="tx1"/>
                </a:solidFill>
              </a:rPr>
              <a:t>Shipping days Vs Review Score</a:t>
            </a:r>
          </a:p>
          <a:p>
            <a:pPr marL="0" marR="0" lvl="0" indent="0" algn="ctr" defTabSz="914400" rtl="0" eaLnBrk="1" fontAlgn="auto" latinLnBrk="0" hangingPunct="1">
              <a:lnSpc>
                <a:spcPct val="100000"/>
              </a:lnSpc>
              <a:spcBef>
                <a:spcPts val="0"/>
              </a:spcBef>
              <a:spcAft>
                <a:spcPts val="0"/>
              </a:spcAft>
              <a:buClrTx/>
              <a:buSzTx/>
              <a:buFontTx/>
              <a:buNone/>
              <a:tabLst/>
              <a:defRPr sz="1800">
                <a:solidFill>
                  <a:sysClr val="windowText" lastClr="000000"/>
                </a:solidFill>
              </a:defRPr>
            </a:pPr>
            <a:endParaRPr lang="en-IN" sz="1800"/>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800" b="1" i="0" u="none" strike="noStrike" kern="1200" spc="0" baseline="0">
              <a:solidFill>
                <a:sysClr val="windowText" lastClr="000000"/>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lang="en-US" sz="10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lang="en-US" sz="10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lang="en-US" sz="12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lang="en-US" sz="12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lang="en-US" sz="12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8.1684455318254828E-2"/>
          <c:y val="0.10768059215035257"/>
          <c:w val="0.86856430090065062"/>
          <c:h val="0.75287165506632747"/>
        </c:manualLayout>
      </c:layout>
      <c:barChart>
        <c:barDir val="col"/>
        <c:grouping val="clustered"/>
        <c:varyColors val="0"/>
        <c:ser>
          <c:idx val="0"/>
          <c:order val="0"/>
          <c:tx>
            <c:strRef>
              <c:f>'Review vs shippingdays'!$B$5</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lang="en-US" sz="12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'Review vs shippingdays'!$A$6:$A$11</c:f>
              <c:strCache>
                <c:ptCount val="5"/>
                <c:pt idx="0">
                  <c:v>1</c:v>
                </c:pt>
                <c:pt idx="1">
                  <c:v>2</c:v>
                </c:pt>
                <c:pt idx="2">
                  <c:v>3</c:v>
                </c:pt>
                <c:pt idx="3">
                  <c:v>4</c:v>
                </c:pt>
                <c:pt idx="4">
                  <c:v>5</c:v>
                </c:pt>
              </c:strCache>
            </c:strRef>
          </c:cat>
          <c:val>
            <c:numRef>
              <c:f>'Review vs shippingdays'!$B$6:$B$11</c:f>
              <c:numCache>
                <c:formatCode>0</c:formatCode>
                <c:ptCount val="5"/>
                <c:pt idx="0">
                  <c:v>20.338037262497693</c:v>
                </c:pt>
                <c:pt idx="1">
                  <c:v>16.108843537414966</c:v>
                </c:pt>
                <c:pt idx="2">
                  <c:v>14.036384571099598</c:v>
                </c:pt>
                <c:pt idx="3">
                  <c:v>12.250172907815433</c:v>
                </c:pt>
                <c:pt idx="4">
                  <c:v>10.621455825274653</c:v>
                </c:pt>
              </c:numCache>
            </c:numRef>
          </c:val>
          <c:extLst>
            <c:ext xmlns:c16="http://schemas.microsoft.com/office/drawing/2014/chart" uri="{C3380CC4-5D6E-409C-BE32-E72D297353CC}">
              <c16:uniqueId val="{00000000-50BE-46A4-B0F1-8CD26A76A5DD}"/>
            </c:ext>
          </c:extLst>
        </c:ser>
        <c:dLbls>
          <c:dLblPos val="outEnd"/>
          <c:showLegendKey val="0"/>
          <c:showVal val="1"/>
          <c:showCatName val="0"/>
          <c:showSerName val="0"/>
          <c:showPercent val="0"/>
          <c:showBubbleSize val="0"/>
        </c:dLbls>
        <c:gapWidth val="219"/>
        <c:overlap val="-27"/>
        <c:axId val="662315487"/>
        <c:axId val="662317647"/>
      </c:barChart>
      <c:catAx>
        <c:axId val="662315487"/>
        <c:scaling>
          <c:orientation val="minMax"/>
        </c:scaling>
        <c:delete val="0"/>
        <c:axPos val="b"/>
        <c:title>
          <c:tx>
            <c:rich>
              <a:bodyPr rot="0" spcFirstLastPara="1" vertOverflow="ellipsis" vert="horz" wrap="square" anchor="ctr" anchorCtr="1"/>
              <a:lstStyle/>
              <a:p>
                <a:pPr algn="ctr" rtl="0">
                  <a:defRPr lang="en-US" sz="1100" b="1" i="0" u="none" strike="noStrike" kern="1200" baseline="0">
                    <a:solidFill>
                      <a:schemeClr val="tx1"/>
                    </a:solidFill>
                    <a:latin typeface="+mn-lt"/>
                    <a:ea typeface="+mn-ea"/>
                    <a:cs typeface="+mn-cs"/>
                  </a:defRPr>
                </a:pPr>
                <a:r>
                  <a:rPr lang="en-IN" sz="1100"/>
                  <a:t>Review Score</a:t>
                </a:r>
              </a:p>
            </c:rich>
          </c:tx>
          <c:overlay val="0"/>
          <c:spPr>
            <a:noFill/>
            <a:ln>
              <a:noFill/>
            </a:ln>
            <a:effectLst/>
          </c:spPr>
          <c:txPr>
            <a:bodyPr rot="0" spcFirstLastPara="1" vertOverflow="ellipsis" vert="horz" wrap="square" anchor="ctr" anchorCtr="1"/>
            <a:lstStyle/>
            <a:p>
              <a:pPr algn="ctr" rtl="0">
                <a:defRPr lang="en-US" sz="11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00" b="1" i="0" u="none" strike="noStrike" kern="1200" baseline="0">
                <a:solidFill>
                  <a:schemeClr val="tx1"/>
                </a:solidFill>
                <a:latin typeface="+mn-lt"/>
                <a:ea typeface="+mn-ea"/>
                <a:cs typeface="+mn-cs"/>
              </a:defRPr>
            </a:pPr>
            <a:endParaRPr lang="en-US"/>
          </a:p>
        </c:txPr>
        <c:crossAx val="662317647"/>
        <c:crosses val="autoZero"/>
        <c:auto val="1"/>
        <c:lblAlgn val="ctr"/>
        <c:lblOffset val="100"/>
        <c:noMultiLvlLbl val="0"/>
      </c:catAx>
      <c:valAx>
        <c:axId val="662317647"/>
        <c:scaling>
          <c:orientation val="minMax"/>
        </c:scaling>
        <c:delete val="0"/>
        <c:axPos val="l"/>
        <c:title>
          <c:tx>
            <c:rich>
              <a:bodyPr rot="-5400000" spcFirstLastPara="1" vertOverflow="ellipsis" vert="horz" wrap="square" anchor="ctr" anchorCtr="1"/>
              <a:lstStyle/>
              <a:p>
                <a:pPr>
                  <a:defRPr lang="en-US" sz="1100" b="1" i="0" u="none" strike="noStrike" kern="1200" baseline="0">
                    <a:solidFill>
                      <a:schemeClr val="tx1"/>
                    </a:solidFill>
                    <a:latin typeface="+mn-lt"/>
                    <a:ea typeface="+mn-ea"/>
                    <a:cs typeface="+mn-cs"/>
                  </a:defRPr>
                </a:pPr>
                <a:r>
                  <a:rPr lang="en-IN" sz="1100"/>
                  <a:t>Shipping Days</a:t>
                </a:r>
              </a:p>
            </c:rich>
          </c:tx>
          <c:layout>
            <c:manualLayout>
              <c:xMode val="edge"/>
              <c:yMode val="edge"/>
              <c:x val="2.2614201718679332E-2"/>
              <c:y val="0.34548957492499122"/>
            </c:manualLayout>
          </c:layout>
          <c:overlay val="0"/>
          <c:spPr>
            <a:noFill/>
            <a:ln>
              <a:noFill/>
            </a:ln>
            <a:effectLst/>
          </c:spPr>
          <c:txPr>
            <a:bodyPr rot="-5400000" spcFirstLastPara="1" vertOverflow="ellipsis" vert="horz" wrap="square" anchor="ctr" anchorCtr="1"/>
            <a:lstStyle/>
            <a:p>
              <a:pPr>
                <a:defRPr lang="en-US" sz="1100" b="1" i="0" u="none" strike="noStrike" kern="1200" baseline="0">
                  <a:solidFill>
                    <a:schemeClr val="tx1"/>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en-US" sz="1000" b="1" i="0" u="none" strike="noStrike" kern="1200" baseline="0">
                <a:solidFill>
                  <a:schemeClr val="tx1"/>
                </a:solidFill>
                <a:latin typeface="+mn-lt"/>
                <a:ea typeface="+mn-ea"/>
                <a:cs typeface="+mn-cs"/>
              </a:defRPr>
            </a:pPr>
            <a:endParaRPr lang="en-US"/>
          </a:p>
        </c:txPr>
        <c:crossAx val="66231548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lgn="ctr">
        <a:defRPr lang="en-US" sz="1000" b="1" i="0" u="none" strike="noStrike" kern="1200" baseline="0">
          <a:solidFill>
            <a:schemeClr val="tx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860206a44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860206a44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860206a440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3860206a440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860206a440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3860206a440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860206a440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860206a44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85fa8fc82b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385fa8fc82b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85fa8fc82b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85fa8fc82b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85fa8fc82b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85fa8fc82b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7" name="Google Shape;30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3" name="Google Shape;31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9" name="Google Shape;31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4" name="Google Shape;324;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6" name="Google Shape;33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GB"/>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1395926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17380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GB"/>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1243870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61722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392960375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14274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25670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GB"/>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9" name="Date Placeholder 8"/>
          <p:cNvSpPr>
            <a:spLocks noGrp="1"/>
          </p:cNvSpPr>
          <p:nvPr>
            <p:ph type="dt" sz="half" idx="10"/>
          </p:nvPr>
        </p:nvSpPr>
        <p:spPr/>
        <p:txBody>
          <a:bodyPr/>
          <a:lstStyle/>
          <a:p>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36861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2541187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75854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51269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0674838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2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jpg"/></Relationships>
</file>

<file path=ppt/slides/_rels/slide2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9"/>
          <p:cNvSpPr txBox="1">
            <a:spLocks noGrp="1"/>
          </p:cNvSpPr>
          <p:nvPr>
            <p:ph type="ctrTitle"/>
          </p:nvPr>
        </p:nvSpPr>
        <p:spPr>
          <a:xfrm>
            <a:off x="1600200" y="1966042"/>
            <a:ext cx="8991600" cy="1653258"/>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rgbClr val="FF0000"/>
              </a:buClr>
              <a:buSzPts val="4800"/>
              <a:buFont typeface="Twentieth Century"/>
              <a:buNone/>
            </a:pPr>
            <a:r>
              <a:rPr lang="en-US" b="1" dirty="0">
                <a:solidFill>
                  <a:srgbClr val="FF0000"/>
                </a:solidFill>
              </a:rPr>
              <a:t>E-COMMERCE OLIST STORE ANALYSIS</a:t>
            </a:r>
            <a:endParaRPr dirty="0">
              <a:solidFill>
                <a:srgbClr val="FF0000"/>
              </a:solidFill>
            </a:endParaRPr>
          </a:p>
        </p:txBody>
      </p:sp>
      <p:sp>
        <p:nvSpPr>
          <p:cNvPr id="156" name="Google Shape;156;p19"/>
          <p:cNvSpPr txBox="1">
            <a:spLocks noGrp="1"/>
          </p:cNvSpPr>
          <p:nvPr>
            <p:ph type="subTitle" idx="1"/>
          </p:nvPr>
        </p:nvSpPr>
        <p:spPr>
          <a:prstGeom prst="rect">
            <a:avLst/>
          </a:prstGeom>
          <a:noFill/>
          <a:ln>
            <a:noFill/>
          </a:ln>
        </p:spPr>
        <p:txBody>
          <a:bodyPr spcFirstLastPara="1" wrap="square" lIns="91425" tIns="45700" rIns="91425" bIns="45700" anchor="t" anchorCtr="0">
            <a:normAutofit fontScale="92500" lnSpcReduction="10000"/>
          </a:bodyPr>
          <a:lstStyle/>
          <a:p>
            <a:pPr marL="0" lvl="0" indent="0" algn="ctr" rtl="0">
              <a:lnSpc>
                <a:spcPct val="120000"/>
              </a:lnSpc>
              <a:spcBef>
                <a:spcPts val="0"/>
              </a:spcBef>
              <a:spcAft>
                <a:spcPts val="0"/>
              </a:spcAft>
              <a:buSzPts val="2200"/>
              <a:buNone/>
            </a:pPr>
            <a:endParaRPr dirty="0">
              <a:solidFill>
                <a:schemeClr val="dk1"/>
              </a:solidFill>
            </a:endParaRPr>
          </a:p>
          <a:p>
            <a:pPr marL="0" lvl="0" indent="0" algn="l" rtl="0">
              <a:lnSpc>
                <a:spcPct val="120000"/>
              </a:lnSpc>
              <a:spcBef>
                <a:spcPts val="1000"/>
              </a:spcBef>
              <a:spcAft>
                <a:spcPts val="0"/>
              </a:spcAft>
              <a:buSzPts val="4000"/>
              <a:buNone/>
            </a:pPr>
            <a:r>
              <a:rPr lang="en-US" sz="4000" dirty="0">
                <a:solidFill>
                  <a:schemeClr val="dk1"/>
                </a:solidFill>
              </a:rPr>
              <a:t>                                </a:t>
            </a:r>
            <a:endParaRPr sz="4000" dirty="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1"/>
          <p:cNvSpPr txBox="1">
            <a:spLocks noGrp="1"/>
          </p:cNvSpPr>
          <p:nvPr>
            <p:ph type="title"/>
          </p:nvPr>
        </p:nvSpPr>
        <p:spPr>
          <a:xfrm>
            <a:off x="913488" y="1023725"/>
            <a:ext cx="10364400" cy="979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86630"/>
              <a:buFont typeface="Twentieth Century"/>
              <a:buNone/>
            </a:pPr>
            <a:br>
              <a:rPr lang="en-US" u="sng" dirty="0"/>
            </a:br>
            <a:r>
              <a:rPr lang="en-US" sz="5355" b="1" dirty="0">
                <a:solidFill>
                  <a:srgbClr val="FF0000"/>
                </a:solidFill>
              </a:rPr>
              <a:t>TOPICS</a:t>
            </a:r>
            <a:endParaRPr sz="4155" b="1" dirty="0">
              <a:solidFill>
                <a:srgbClr val="FF0000"/>
              </a:solidFill>
            </a:endParaRPr>
          </a:p>
        </p:txBody>
      </p:sp>
      <p:sp>
        <p:nvSpPr>
          <p:cNvPr id="168" name="Google Shape;168;p21"/>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0" marR="0" lvl="0" indent="0" algn="l" rtl="0">
              <a:lnSpc>
                <a:spcPct val="120000"/>
              </a:lnSpc>
              <a:spcBef>
                <a:spcPts val="0"/>
              </a:spcBef>
              <a:spcAft>
                <a:spcPts val="0"/>
              </a:spcAft>
              <a:buClr>
                <a:srgbClr val="000000"/>
              </a:buClr>
              <a:buSzPts val="2800"/>
              <a:buFont typeface="Arial"/>
              <a:buNone/>
            </a:pPr>
            <a:r>
              <a:rPr lang="en-US" sz="2800" dirty="0"/>
              <a:t>1. Introduction</a:t>
            </a:r>
          </a:p>
          <a:p>
            <a:pPr marL="0" marR="0" lvl="0" indent="0" algn="l" rtl="0">
              <a:lnSpc>
                <a:spcPct val="120000"/>
              </a:lnSpc>
              <a:spcBef>
                <a:spcPts val="0"/>
              </a:spcBef>
              <a:spcAft>
                <a:spcPts val="0"/>
              </a:spcAft>
              <a:buClr>
                <a:srgbClr val="000000"/>
              </a:buClr>
              <a:buSzPts val="2800"/>
              <a:buFont typeface="Arial"/>
              <a:buNone/>
            </a:pPr>
            <a:r>
              <a:rPr lang="en-US" sz="2800" dirty="0"/>
              <a:t>2. Overview</a:t>
            </a:r>
          </a:p>
          <a:p>
            <a:pPr marL="0" marR="0" lvl="0" indent="0" algn="l" rtl="0">
              <a:lnSpc>
                <a:spcPct val="120000"/>
              </a:lnSpc>
              <a:spcBef>
                <a:spcPts val="0"/>
              </a:spcBef>
              <a:spcAft>
                <a:spcPts val="0"/>
              </a:spcAft>
              <a:buClr>
                <a:srgbClr val="000000"/>
              </a:buClr>
              <a:buSzPts val="2800"/>
              <a:buFont typeface="Arial"/>
              <a:buNone/>
            </a:pPr>
            <a:r>
              <a:rPr lang="en-US" sz="2800" dirty="0"/>
              <a:t>3. KPIs</a:t>
            </a:r>
          </a:p>
          <a:p>
            <a:pPr marL="0" marR="0" lvl="0" indent="0" algn="l" rtl="0">
              <a:lnSpc>
                <a:spcPct val="120000"/>
              </a:lnSpc>
              <a:spcBef>
                <a:spcPts val="0"/>
              </a:spcBef>
              <a:spcAft>
                <a:spcPts val="0"/>
              </a:spcAft>
              <a:buClr>
                <a:srgbClr val="000000"/>
              </a:buClr>
              <a:buSzPts val="2800"/>
              <a:buFont typeface="Arial"/>
              <a:buNone/>
            </a:pPr>
            <a:r>
              <a:rPr lang="en-US" sz="2800" dirty="0"/>
              <a:t>4. Insights &amp; Recommendations</a:t>
            </a:r>
          </a:p>
          <a:p>
            <a:pPr marL="0" marR="0" lvl="0" indent="0" algn="l" rtl="0">
              <a:lnSpc>
                <a:spcPct val="120000"/>
              </a:lnSpc>
              <a:spcBef>
                <a:spcPts val="0"/>
              </a:spcBef>
              <a:spcAft>
                <a:spcPts val="0"/>
              </a:spcAft>
              <a:buClr>
                <a:srgbClr val="000000"/>
              </a:buClr>
              <a:buSzPts val="2800"/>
              <a:buFont typeface="Arial"/>
              <a:buNone/>
            </a:pPr>
            <a:r>
              <a:rPr lang="en-US" sz="2800" dirty="0"/>
              <a:t>5.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2"/>
          <p:cNvSpPr txBox="1">
            <a:spLocks noGrp="1"/>
          </p:cNvSpPr>
          <p:nvPr>
            <p:ph type="title"/>
          </p:nvPr>
        </p:nvSpPr>
        <p:spPr>
          <a:xfrm>
            <a:off x="1560847" y="247755"/>
            <a:ext cx="8596800" cy="9354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3600"/>
              <a:buFont typeface="Twentieth Century"/>
              <a:buNone/>
            </a:pPr>
            <a:r>
              <a:rPr lang="en-US" sz="4800" b="1" dirty="0">
                <a:solidFill>
                  <a:srgbClr val="FF0000"/>
                </a:solidFill>
              </a:rPr>
              <a:t>OVERVIEW</a:t>
            </a:r>
            <a:endParaRPr sz="4800" b="1" dirty="0">
              <a:solidFill>
                <a:srgbClr val="FF0000"/>
              </a:solidFill>
            </a:endParaRPr>
          </a:p>
        </p:txBody>
      </p:sp>
      <p:sp>
        <p:nvSpPr>
          <p:cNvPr id="174" name="Google Shape;174;p22"/>
          <p:cNvSpPr txBox="1">
            <a:spLocks noGrp="1"/>
          </p:cNvSpPr>
          <p:nvPr>
            <p:ph idx="1"/>
          </p:nvPr>
        </p:nvSpPr>
        <p:spPr>
          <a:xfrm>
            <a:off x="677334" y="1930400"/>
            <a:ext cx="10363826" cy="3556000"/>
          </a:xfrm>
          <a:prstGeom prst="rect">
            <a:avLst/>
          </a:prstGeom>
          <a:noFill/>
          <a:ln>
            <a:noFill/>
          </a:ln>
        </p:spPr>
        <p:txBody>
          <a:bodyPr spcFirstLastPara="1" wrap="square" lIns="91425" tIns="45700" rIns="91425" bIns="45700" anchor="t" anchorCtr="0">
            <a:normAutofit/>
          </a:bodyPr>
          <a:lstStyle/>
          <a:p>
            <a:pPr marL="0" lvl="0" indent="0" algn="l" rtl="0">
              <a:lnSpc>
                <a:spcPct val="120000"/>
              </a:lnSpc>
              <a:spcBef>
                <a:spcPts val="0"/>
              </a:spcBef>
              <a:spcAft>
                <a:spcPts val="0"/>
              </a:spcAft>
              <a:buSzPts val="2800"/>
              <a:buNone/>
            </a:pPr>
            <a:r>
              <a:rPr lang="en-US" sz="2800" dirty="0"/>
              <a:t>The </a:t>
            </a:r>
            <a:r>
              <a:rPr lang="en-US" sz="2800" dirty="0" err="1"/>
              <a:t>olist</a:t>
            </a:r>
            <a:r>
              <a:rPr lang="en-US" sz="2800" dirty="0"/>
              <a:t> store analysis project aims to analyze customer purchasing patterns and payment statistics on an e-commerce platform, </a:t>
            </a:r>
            <a:r>
              <a:rPr lang="en-US" sz="2800" dirty="0" err="1"/>
              <a:t>Olist</a:t>
            </a:r>
            <a:r>
              <a:rPr lang="en-US" sz="2800" dirty="0"/>
              <a:t>. This project covers several key performance indicators (KPIs) such as weekday vs weekend sales, payment statistics, delivery time, and customer behavior. The analysis is based on nine csv files, which are cleaned and manipulated to extract valuable insights.</a:t>
            </a:r>
            <a:endParaRPr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3"/>
          <p:cNvSpPr txBox="1">
            <a:spLocks noGrp="1"/>
          </p:cNvSpPr>
          <p:nvPr>
            <p:ph type="title"/>
          </p:nvPr>
        </p:nvSpPr>
        <p:spPr>
          <a:xfrm>
            <a:off x="2230823" y="227273"/>
            <a:ext cx="7729728" cy="118872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7200"/>
              <a:buFont typeface="Twentieth Century"/>
              <a:buNone/>
            </a:pPr>
            <a:r>
              <a:rPr lang="en-US" sz="4800" b="1" dirty="0">
                <a:solidFill>
                  <a:srgbClr val="FF0000"/>
                </a:solidFill>
              </a:rPr>
              <a:t>KPI’S</a:t>
            </a:r>
            <a:endParaRPr sz="4800" b="1" dirty="0">
              <a:solidFill>
                <a:srgbClr val="FF0000"/>
              </a:solidFill>
            </a:endParaRPr>
          </a:p>
        </p:txBody>
      </p:sp>
      <p:sp>
        <p:nvSpPr>
          <p:cNvPr id="180" name="Google Shape;180;p23"/>
          <p:cNvSpPr txBox="1">
            <a:spLocks noGrp="1"/>
          </p:cNvSpPr>
          <p:nvPr>
            <p:ph idx="1"/>
          </p:nvPr>
        </p:nvSpPr>
        <p:spPr>
          <a:xfrm>
            <a:off x="913774" y="1846730"/>
            <a:ext cx="10363826" cy="3944470"/>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200000"/>
              </a:lnSpc>
              <a:spcBef>
                <a:spcPts val="0"/>
              </a:spcBef>
              <a:spcAft>
                <a:spcPts val="0"/>
              </a:spcAft>
              <a:buSzPct val="85714"/>
              <a:buFont typeface="Noto Sans Symbols"/>
              <a:buChar char="⮚"/>
            </a:pPr>
            <a:r>
              <a:rPr lang="en-US" sz="2800" dirty="0"/>
              <a:t>Weekdays and weekend payment statistics</a:t>
            </a:r>
          </a:p>
          <a:p>
            <a:pPr marL="228600" lvl="0" indent="-228600" algn="l" rtl="0">
              <a:lnSpc>
                <a:spcPct val="200000"/>
              </a:lnSpc>
              <a:spcBef>
                <a:spcPts val="1000"/>
              </a:spcBef>
              <a:spcAft>
                <a:spcPts val="0"/>
              </a:spcAft>
              <a:buSzPct val="85714"/>
              <a:buFont typeface="Noto Sans Symbols"/>
              <a:buChar char="⮚"/>
            </a:pPr>
            <a:r>
              <a:rPr lang="en-US" sz="2800" dirty="0"/>
              <a:t>Payment type with review score 5</a:t>
            </a:r>
          </a:p>
          <a:p>
            <a:pPr marL="228600" lvl="0" indent="-228600" algn="l" rtl="0">
              <a:lnSpc>
                <a:spcPct val="200000"/>
              </a:lnSpc>
              <a:spcBef>
                <a:spcPts val="1000"/>
              </a:spcBef>
              <a:spcAft>
                <a:spcPts val="0"/>
              </a:spcAft>
              <a:buSzPct val="85714"/>
              <a:buFont typeface="Noto Sans Symbols"/>
              <a:buChar char="⮚"/>
            </a:pPr>
            <a:r>
              <a:rPr lang="en-US" sz="2800" dirty="0"/>
              <a:t>Average numbers of delivery days taken for pet shop</a:t>
            </a:r>
          </a:p>
          <a:p>
            <a:pPr marL="228600" lvl="0" indent="-228600" algn="l" rtl="0">
              <a:lnSpc>
                <a:spcPct val="200000"/>
              </a:lnSpc>
              <a:spcBef>
                <a:spcPts val="1000"/>
              </a:spcBef>
              <a:spcAft>
                <a:spcPts val="0"/>
              </a:spcAft>
              <a:buSzPct val="85714"/>
              <a:buFont typeface="Noto Sans Symbols"/>
              <a:buChar char="⮚"/>
            </a:pPr>
            <a:r>
              <a:rPr lang="en-US" sz="2800" dirty="0"/>
              <a:t>Average price and payment value of </a:t>
            </a:r>
            <a:r>
              <a:rPr lang="en-US" sz="2800" dirty="0" err="1"/>
              <a:t>sao</a:t>
            </a:r>
            <a:r>
              <a:rPr lang="en-US" sz="2800" dirty="0"/>
              <a:t> </a:t>
            </a:r>
            <a:r>
              <a:rPr lang="en-US" sz="2800" dirty="0" err="1"/>
              <a:t>paulo</a:t>
            </a:r>
            <a:r>
              <a:rPr lang="en-US" sz="2800" dirty="0"/>
              <a:t> city</a:t>
            </a:r>
          </a:p>
          <a:p>
            <a:pPr marL="228600" lvl="0" indent="-228600" algn="l" rtl="0">
              <a:lnSpc>
                <a:spcPct val="200000"/>
              </a:lnSpc>
              <a:spcBef>
                <a:spcPts val="1000"/>
              </a:spcBef>
              <a:spcAft>
                <a:spcPts val="0"/>
              </a:spcAft>
              <a:buSzPct val="85714"/>
              <a:buFont typeface="Noto Sans Symbols"/>
              <a:buChar char="⮚"/>
            </a:pPr>
            <a:r>
              <a:rPr lang="en-US" sz="2800" dirty="0"/>
              <a:t>Average shipping days vs review scores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4"/>
          <p:cNvSpPr txBox="1">
            <a:spLocks noGrp="1"/>
          </p:cNvSpPr>
          <p:nvPr>
            <p:ph type="title"/>
          </p:nvPr>
        </p:nvSpPr>
        <p:spPr>
          <a:xfrm>
            <a:off x="147485" y="161136"/>
            <a:ext cx="10942432" cy="136286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800"/>
              <a:buFont typeface="Twentieth Century"/>
              <a:buNone/>
            </a:pPr>
            <a:r>
              <a:rPr lang="en-US" sz="2800" dirty="0"/>
              <a:t>                </a:t>
            </a:r>
            <a:br>
              <a:rPr lang="en-US" sz="2800" dirty="0"/>
            </a:br>
            <a:r>
              <a:rPr lang="en-US" sz="2800" dirty="0">
                <a:solidFill>
                  <a:srgbClr val="2589AD"/>
                </a:solidFill>
              </a:rPr>
              <a:t>           </a:t>
            </a:r>
            <a:r>
              <a:rPr lang="en-US" sz="2800" b="1" cap="none" dirty="0">
                <a:solidFill>
                  <a:srgbClr val="FF0000"/>
                </a:solidFill>
              </a:rPr>
              <a:t>WEEKDAY VS WEEKEND PAYMENT STATISTICS</a:t>
            </a:r>
            <a:endParaRPr dirty="0"/>
          </a:p>
        </p:txBody>
      </p:sp>
      <p:sp>
        <p:nvSpPr>
          <p:cNvPr id="186" name="Google Shape;186;p24"/>
          <p:cNvSpPr txBox="1">
            <a:spLocks noGrp="1"/>
          </p:cNvSpPr>
          <p:nvPr>
            <p:ph idx="1"/>
          </p:nvPr>
        </p:nvSpPr>
        <p:spPr>
          <a:xfrm>
            <a:off x="4812706" y="1946084"/>
            <a:ext cx="6853430" cy="3521202"/>
          </a:xfrm>
          <a:prstGeom prst="rect">
            <a:avLst/>
          </a:prstGeom>
          <a:noFill/>
          <a:ln>
            <a:noFill/>
          </a:ln>
        </p:spPr>
        <p:txBody>
          <a:bodyPr spcFirstLastPara="1" wrap="square" lIns="91425" tIns="45700" rIns="91425" bIns="45700" anchor="t" anchorCtr="0">
            <a:normAutofit fontScale="92500"/>
          </a:bodyPr>
          <a:lstStyle/>
          <a:p>
            <a:pPr marL="0" indent="0" algn="just">
              <a:lnSpc>
                <a:spcPct val="120000"/>
              </a:lnSpc>
              <a:buSzPct val="80000"/>
              <a:buNone/>
            </a:pPr>
            <a:r>
              <a:rPr lang="en-US" sz="2000" b="1" dirty="0">
                <a:latin typeface="Arial" panose="020B0604020202020204" pitchFamily="34" charset="0"/>
                <a:cs typeface="Arial" panose="020B0604020202020204" pitchFamily="34" charset="0"/>
              </a:rPr>
              <a:t>This analysis compares customer payment activity on weekdays and weekends, offering  insights into buyer behavior and </a:t>
            </a:r>
            <a:r>
              <a:rPr lang="en-US" sz="2000" b="1" dirty="0" err="1">
                <a:latin typeface="Arial" panose="020B0604020202020204" pitchFamily="34" charset="0"/>
                <a:cs typeface="Arial" panose="020B0604020202020204" pitchFamily="34" charset="0"/>
              </a:rPr>
              <a:t>paymnent</a:t>
            </a:r>
            <a:r>
              <a:rPr lang="en-US" sz="2000" b="1" dirty="0">
                <a:latin typeface="Arial" panose="020B0604020202020204" pitchFamily="34" charset="0"/>
                <a:cs typeface="Arial" panose="020B0604020202020204" pitchFamily="34" charset="0"/>
              </a:rPr>
              <a:t> preferences. Weekday payments: 12,703,545 transactions (77%). Weekend payments: 3,762,009 transactions (23%) this KPI answers questions like, which day of the week has the highest sales? The analysis of this KPI can help </a:t>
            </a:r>
            <a:r>
              <a:rPr lang="en-US" sz="2000" b="1" dirty="0" err="1">
                <a:latin typeface="Arial" panose="020B0604020202020204" pitchFamily="34" charset="0"/>
                <a:cs typeface="Arial" panose="020B0604020202020204" pitchFamily="34" charset="0"/>
              </a:rPr>
              <a:t>olist</a:t>
            </a:r>
            <a:r>
              <a:rPr lang="en-US" sz="2000" b="1" dirty="0">
                <a:latin typeface="Arial" panose="020B0604020202020204" pitchFamily="34" charset="0"/>
                <a:cs typeface="Arial" panose="020B0604020202020204" pitchFamily="34" charset="0"/>
              </a:rPr>
              <a:t> to improve their weekend sales and plan promotions accordingly.  </a:t>
            </a:r>
          </a:p>
          <a:p>
            <a:pPr marL="0" indent="0" algn="just">
              <a:lnSpc>
                <a:spcPct val="120000"/>
              </a:lnSpc>
              <a:buSzPct val="100000"/>
              <a:buNone/>
            </a:pPr>
            <a:r>
              <a:rPr lang="en-US" sz="1400" dirty="0"/>
              <a:t>                                                                     </a:t>
            </a:r>
          </a:p>
        </p:txBody>
      </p:sp>
      <p:sp>
        <p:nvSpPr>
          <p:cNvPr id="187" name="Google Shape;187;p24"/>
          <p:cNvSpPr/>
          <p:nvPr/>
        </p:nvSpPr>
        <p:spPr>
          <a:xfrm>
            <a:off x="886616" y="322681"/>
            <a:ext cx="1058457" cy="835242"/>
          </a:xfrm>
          <a:prstGeom prst="rightArrow">
            <a:avLst>
              <a:gd name="adj1" fmla="val 50000"/>
              <a:gd name="adj2" fmla="val 50000"/>
            </a:avLst>
          </a:prstGeom>
          <a:solidFill>
            <a:schemeClr val="accent1"/>
          </a:solidFill>
          <a:ln w="15875" cap="flat" cmpd="sng">
            <a:solidFill>
              <a:srgbClr val="A536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dirty="0">
                <a:solidFill>
                  <a:schemeClr val="lt1"/>
                </a:solidFill>
                <a:latin typeface="Twentieth Century"/>
                <a:ea typeface="Twentieth Century"/>
                <a:cs typeface="Twentieth Century"/>
                <a:sym typeface="Twentieth Century"/>
              </a:rPr>
              <a:t>KPI - 1</a:t>
            </a:r>
            <a:endParaRPr dirty="0"/>
          </a:p>
        </p:txBody>
      </p:sp>
      <p:graphicFrame>
        <p:nvGraphicFramePr>
          <p:cNvPr id="2" name="Chart 1">
            <a:extLst>
              <a:ext uri="{FF2B5EF4-FFF2-40B4-BE49-F238E27FC236}">
                <a16:creationId xmlns:a16="http://schemas.microsoft.com/office/drawing/2014/main" id="{D97DEB4E-697A-4D4D-9E50-D39A8C8F2207}"/>
              </a:ext>
            </a:extLst>
          </p:cNvPr>
          <p:cNvGraphicFramePr>
            <a:graphicFrameLocks/>
          </p:cNvGraphicFramePr>
          <p:nvPr>
            <p:extLst>
              <p:ext uri="{D42A27DB-BD31-4B8C-83A1-F6EECF244321}">
                <p14:modId xmlns:p14="http://schemas.microsoft.com/office/powerpoint/2010/main" val="3117726465"/>
              </p:ext>
            </p:extLst>
          </p:nvPr>
        </p:nvGraphicFramePr>
        <p:xfrm>
          <a:off x="30952" y="1946084"/>
          <a:ext cx="5366657" cy="341811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5"/>
          <p:cNvSpPr txBox="1">
            <a:spLocks noGrp="1"/>
          </p:cNvSpPr>
          <p:nvPr>
            <p:ph type="title"/>
          </p:nvPr>
        </p:nvSpPr>
        <p:spPr>
          <a:xfrm>
            <a:off x="913774" y="123673"/>
            <a:ext cx="10364451" cy="13118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3600"/>
              <a:buFont typeface="Twentieth Century"/>
              <a:buNone/>
            </a:pPr>
            <a:r>
              <a:rPr lang="en-US" b="1" dirty="0">
                <a:solidFill>
                  <a:srgbClr val="FF0000"/>
                </a:solidFill>
              </a:rPr>
              <a:t>         </a:t>
            </a:r>
            <a:r>
              <a:rPr lang="en-US" sz="2800" b="1" dirty="0">
                <a:solidFill>
                  <a:srgbClr val="FF0000"/>
                </a:solidFill>
              </a:rPr>
              <a:t>PAYMENT TYPE WITH REVIEW SCORE 5</a:t>
            </a:r>
            <a:endParaRPr b="1" dirty="0">
              <a:solidFill>
                <a:srgbClr val="FF0000"/>
              </a:solidFill>
            </a:endParaRPr>
          </a:p>
        </p:txBody>
      </p:sp>
      <p:sp>
        <p:nvSpPr>
          <p:cNvPr id="194" name="Google Shape;194;p25"/>
          <p:cNvSpPr txBox="1">
            <a:spLocks noGrp="1"/>
          </p:cNvSpPr>
          <p:nvPr>
            <p:ph idx="1"/>
          </p:nvPr>
        </p:nvSpPr>
        <p:spPr>
          <a:xfrm>
            <a:off x="6076960" y="2119754"/>
            <a:ext cx="5888899" cy="3405975"/>
          </a:xfrm>
          <a:prstGeom prst="rect">
            <a:avLst/>
          </a:prstGeom>
          <a:noFill/>
          <a:ln>
            <a:noFill/>
          </a:ln>
        </p:spPr>
        <p:txBody>
          <a:bodyPr spcFirstLastPara="1" wrap="square" lIns="91425" tIns="45700" rIns="91425" bIns="45700" anchor="t" anchorCtr="0">
            <a:normAutofit/>
          </a:bodyPr>
          <a:lstStyle/>
          <a:p>
            <a:pPr marL="0" lvl="0" indent="0" algn="l" rtl="0">
              <a:lnSpc>
                <a:spcPct val="120000"/>
              </a:lnSpc>
              <a:spcBef>
                <a:spcPts val="0"/>
              </a:spcBef>
              <a:spcAft>
                <a:spcPts val="0"/>
              </a:spcAft>
              <a:buSzPct val="100000"/>
              <a:buNone/>
            </a:pPr>
            <a:r>
              <a:rPr lang="en-US" sz="2000" dirty="0"/>
              <a:t> </a:t>
            </a:r>
            <a:r>
              <a:rPr lang="en-US" sz="2000" b="1" dirty="0">
                <a:latin typeface="Arial" panose="020B0604020202020204" pitchFamily="34" charset="0"/>
                <a:cs typeface="Arial" panose="020B0604020202020204" pitchFamily="34" charset="0"/>
              </a:rPr>
              <a:t>Number of orders with review score as 5 and payment type as credit card. This </a:t>
            </a:r>
            <a:r>
              <a:rPr lang="en-US" sz="2000" b="1" dirty="0" err="1">
                <a:latin typeface="Arial" panose="020B0604020202020204" pitchFamily="34" charset="0"/>
                <a:cs typeface="Arial" panose="020B0604020202020204" pitchFamily="34" charset="0"/>
              </a:rPr>
              <a:t>kpi</a:t>
            </a:r>
            <a:r>
              <a:rPr lang="en-US" sz="2000" b="1" dirty="0">
                <a:latin typeface="Arial" panose="020B0604020202020204" pitchFamily="34" charset="0"/>
                <a:cs typeface="Arial" panose="020B0604020202020204" pitchFamily="34" charset="0"/>
              </a:rPr>
              <a:t> analyses the number of orders with a review score of 5 and payment type as credit card. This helps in understanding customer satisfaction levels and payment preferences. </a:t>
            </a:r>
            <a:r>
              <a:rPr lang="en-US" sz="2000" b="1" dirty="0" err="1">
                <a:latin typeface="Arial" panose="020B0604020202020204" pitchFamily="34" charset="0"/>
                <a:cs typeface="Arial" panose="020B0604020202020204" pitchFamily="34" charset="0"/>
              </a:rPr>
              <a:t>Olist</a:t>
            </a:r>
            <a:r>
              <a:rPr lang="en-US" sz="2000" b="1" dirty="0">
                <a:latin typeface="Arial" panose="020B0604020202020204" pitchFamily="34" charset="0"/>
                <a:cs typeface="Arial" panose="020B0604020202020204" pitchFamily="34" charset="0"/>
              </a:rPr>
              <a:t> can use this information to identify satisfied customers and encourage them to make repeat purchases.</a:t>
            </a:r>
          </a:p>
        </p:txBody>
      </p:sp>
      <p:sp>
        <p:nvSpPr>
          <p:cNvPr id="195" name="Google Shape;195;p25"/>
          <p:cNvSpPr/>
          <p:nvPr/>
        </p:nvSpPr>
        <p:spPr>
          <a:xfrm>
            <a:off x="992039" y="398592"/>
            <a:ext cx="1004100" cy="762000"/>
          </a:xfrm>
          <a:prstGeom prst="rightArrow">
            <a:avLst>
              <a:gd name="adj1" fmla="val 50000"/>
              <a:gd name="adj2" fmla="val 50000"/>
            </a:avLst>
          </a:prstGeom>
          <a:solidFill>
            <a:schemeClr val="accent1"/>
          </a:solidFill>
          <a:ln w="15875" cap="flat" cmpd="sng">
            <a:solidFill>
              <a:srgbClr val="A536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dirty="0">
                <a:solidFill>
                  <a:schemeClr val="lt1"/>
                </a:solidFill>
                <a:latin typeface="Twentieth Century"/>
                <a:ea typeface="Twentieth Century"/>
                <a:cs typeface="Twentieth Century"/>
                <a:sym typeface="Twentieth Century"/>
              </a:rPr>
              <a:t>KPI - 2</a:t>
            </a:r>
            <a:endParaRPr dirty="0"/>
          </a:p>
        </p:txBody>
      </p:sp>
      <p:graphicFrame>
        <p:nvGraphicFramePr>
          <p:cNvPr id="2" name="Chart 1">
            <a:extLst>
              <a:ext uri="{FF2B5EF4-FFF2-40B4-BE49-F238E27FC236}">
                <a16:creationId xmlns:a16="http://schemas.microsoft.com/office/drawing/2014/main" id="{C1EBE530-36E0-4776-886B-3BF5A8DEF269}"/>
              </a:ext>
            </a:extLst>
          </p:cNvPr>
          <p:cNvGraphicFramePr>
            <a:graphicFrameLocks/>
          </p:cNvGraphicFramePr>
          <p:nvPr>
            <p:extLst>
              <p:ext uri="{D42A27DB-BD31-4B8C-83A1-F6EECF244321}">
                <p14:modId xmlns:p14="http://schemas.microsoft.com/office/powerpoint/2010/main" val="1182654530"/>
              </p:ext>
            </p:extLst>
          </p:nvPr>
        </p:nvGraphicFramePr>
        <p:xfrm>
          <a:off x="226141" y="1742373"/>
          <a:ext cx="5399314" cy="3886201"/>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6"/>
          <p:cNvSpPr txBox="1">
            <a:spLocks noGrp="1"/>
          </p:cNvSpPr>
          <p:nvPr>
            <p:ph type="title"/>
          </p:nvPr>
        </p:nvSpPr>
        <p:spPr>
          <a:xfrm>
            <a:off x="1130710" y="32325"/>
            <a:ext cx="10308881" cy="151855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3600"/>
              <a:buFont typeface="Twentieth Century"/>
              <a:buNone/>
            </a:pPr>
            <a:r>
              <a:rPr lang="en-US" b="1" dirty="0">
                <a:solidFill>
                  <a:srgbClr val="FF0000"/>
                </a:solidFill>
              </a:rPr>
              <a:t>        </a:t>
            </a:r>
            <a:br>
              <a:rPr lang="en-US" b="1" dirty="0">
                <a:solidFill>
                  <a:srgbClr val="FF0000"/>
                </a:solidFill>
              </a:rPr>
            </a:br>
            <a:r>
              <a:rPr lang="en-US" sz="3100" b="1" dirty="0">
                <a:solidFill>
                  <a:srgbClr val="FF0000"/>
                </a:solidFill>
              </a:rPr>
              <a:t>      </a:t>
            </a:r>
            <a:r>
              <a:rPr lang="en-US" sz="2800" b="1" dirty="0">
                <a:solidFill>
                  <a:srgbClr val="FF0000"/>
                </a:solidFill>
              </a:rPr>
              <a:t>AVERAGE NUMBER OF DELIVERY DAYS TAKEN FOR PET SHOP</a:t>
            </a:r>
            <a:endParaRPr sz="4200" b="1" dirty="0">
              <a:solidFill>
                <a:srgbClr val="FF0000"/>
              </a:solidFill>
            </a:endParaRPr>
          </a:p>
        </p:txBody>
      </p:sp>
      <p:sp>
        <p:nvSpPr>
          <p:cNvPr id="202" name="Google Shape;202;p26"/>
          <p:cNvSpPr txBox="1">
            <a:spLocks noGrp="1"/>
          </p:cNvSpPr>
          <p:nvPr>
            <p:ph idx="1"/>
          </p:nvPr>
        </p:nvSpPr>
        <p:spPr>
          <a:xfrm>
            <a:off x="5217066" y="2648273"/>
            <a:ext cx="6302918" cy="1972888"/>
          </a:xfrm>
          <a:prstGeom prst="rect">
            <a:avLst/>
          </a:prstGeom>
          <a:noFill/>
          <a:ln>
            <a:noFill/>
          </a:ln>
        </p:spPr>
        <p:txBody>
          <a:bodyPr spcFirstLastPara="1" wrap="square" lIns="91425" tIns="45700" rIns="91425" bIns="45700" anchor="t" anchorCtr="0">
            <a:noAutofit/>
          </a:bodyPr>
          <a:lstStyle/>
          <a:p>
            <a:pPr marL="0" lvl="0" indent="0" rtl="0">
              <a:lnSpc>
                <a:spcPct val="120000"/>
              </a:lnSpc>
              <a:spcBef>
                <a:spcPts val="0"/>
              </a:spcBef>
              <a:spcAft>
                <a:spcPts val="0"/>
              </a:spcAft>
              <a:buSzPts val="2000"/>
              <a:buNone/>
            </a:pPr>
            <a:r>
              <a:rPr lang="en-US" sz="2000" b="1" dirty="0">
                <a:latin typeface="Arial" panose="020B0604020202020204" pitchFamily="34" charset="0"/>
                <a:cs typeface="Arial" panose="020B0604020202020204" pitchFamily="34" charset="0"/>
              </a:rPr>
              <a:t>This </a:t>
            </a:r>
            <a:r>
              <a:rPr lang="en-US" sz="2000" b="1" dirty="0" err="1">
                <a:latin typeface="Arial" panose="020B0604020202020204" pitchFamily="34" charset="0"/>
                <a:cs typeface="Arial" panose="020B0604020202020204" pitchFamily="34" charset="0"/>
              </a:rPr>
              <a:t>kpi</a:t>
            </a:r>
            <a:r>
              <a:rPr lang="en-US" sz="2000" b="1" dirty="0">
                <a:latin typeface="Arial" panose="020B0604020202020204" pitchFamily="34" charset="0"/>
                <a:cs typeface="Arial" panose="020B0604020202020204" pitchFamily="34" charset="0"/>
              </a:rPr>
              <a:t> analyzes the average number of days taken for order_ </a:t>
            </a:r>
            <a:r>
              <a:rPr lang="en-US" sz="2000" b="1" dirty="0" err="1">
                <a:latin typeface="Arial" panose="020B0604020202020204" pitchFamily="34" charset="0"/>
                <a:cs typeface="Arial" panose="020B0604020202020204" pitchFamily="34" charset="0"/>
              </a:rPr>
              <a:t>delivered_customer</a:t>
            </a:r>
            <a:r>
              <a:rPr lang="en-US" sz="2000" b="1" dirty="0">
                <a:latin typeface="Arial" panose="020B0604020202020204" pitchFamily="34" charset="0"/>
                <a:cs typeface="Arial" panose="020B0604020202020204" pitchFamily="34" charset="0"/>
              </a:rPr>
              <a:t>_ date for </a:t>
            </a:r>
            <a:r>
              <a:rPr lang="en-US" sz="2000" b="1" dirty="0" err="1">
                <a:latin typeface="Arial" panose="020B0604020202020204" pitchFamily="34" charset="0"/>
                <a:cs typeface="Arial" panose="020B0604020202020204" pitchFamily="34" charset="0"/>
              </a:rPr>
              <a:t>pet_shop</a:t>
            </a:r>
            <a:r>
              <a:rPr lang="en-US" sz="2000" b="1" dirty="0">
                <a:latin typeface="Arial" panose="020B0604020202020204" pitchFamily="34" charset="0"/>
                <a:cs typeface="Arial" panose="020B0604020202020204" pitchFamily="34" charset="0"/>
              </a:rPr>
              <a:t>. It helps </a:t>
            </a:r>
            <a:r>
              <a:rPr lang="en-US" sz="2000" b="1" dirty="0" err="1">
                <a:latin typeface="Arial" panose="020B0604020202020204" pitchFamily="34" charset="0"/>
                <a:cs typeface="Arial" panose="020B0604020202020204" pitchFamily="34" charset="0"/>
              </a:rPr>
              <a:t>olist</a:t>
            </a:r>
            <a:r>
              <a:rPr lang="en-US" sz="2000" b="1" dirty="0">
                <a:latin typeface="Arial" panose="020B0604020202020204" pitchFamily="34" charset="0"/>
                <a:cs typeface="Arial" panose="020B0604020202020204" pitchFamily="34" charset="0"/>
              </a:rPr>
              <a:t> in identifying areas where they can improve their delivery time and maintain customer satisfaction</a:t>
            </a:r>
            <a:r>
              <a:rPr lang="en-US" sz="2000" b="1" dirty="0">
                <a:solidFill>
                  <a:srgbClr val="1D3E5E"/>
                </a:solidFill>
                <a:latin typeface="Arial" panose="020B0604020202020204" pitchFamily="34" charset="0"/>
                <a:cs typeface="Arial" panose="020B0604020202020204" pitchFamily="34" charset="0"/>
              </a:rPr>
              <a:t>.</a:t>
            </a:r>
          </a:p>
        </p:txBody>
      </p:sp>
      <p:sp>
        <p:nvSpPr>
          <p:cNvPr id="203" name="Google Shape;203;p26"/>
          <p:cNvSpPr/>
          <p:nvPr/>
        </p:nvSpPr>
        <p:spPr>
          <a:xfrm>
            <a:off x="581036" y="419604"/>
            <a:ext cx="1099347" cy="744000"/>
          </a:xfrm>
          <a:prstGeom prst="rightArrow">
            <a:avLst>
              <a:gd name="adj1" fmla="val 50000"/>
              <a:gd name="adj2" fmla="val 50000"/>
            </a:avLst>
          </a:prstGeom>
          <a:solidFill>
            <a:schemeClr val="accent1"/>
          </a:solidFill>
          <a:ln w="15875" cap="flat" cmpd="sng">
            <a:solidFill>
              <a:srgbClr val="A536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dirty="0">
                <a:solidFill>
                  <a:schemeClr val="lt1"/>
                </a:solidFill>
                <a:latin typeface="Twentieth Century"/>
                <a:ea typeface="Twentieth Century"/>
                <a:cs typeface="Twentieth Century"/>
                <a:sym typeface="Twentieth Century"/>
              </a:rPr>
              <a:t>KPI - 3</a:t>
            </a:r>
            <a:endParaRPr dirty="0"/>
          </a:p>
        </p:txBody>
      </p:sp>
      <p:graphicFrame>
        <p:nvGraphicFramePr>
          <p:cNvPr id="2" name="Chart 1">
            <a:extLst>
              <a:ext uri="{FF2B5EF4-FFF2-40B4-BE49-F238E27FC236}">
                <a16:creationId xmlns:a16="http://schemas.microsoft.com/office/drawing/2014/main" id="{27ED9931-2E4D-42C8-A578-359911F1F784}"/>
              </a:ext>
            </a:extLst>
          </p:cNvPr>
          <p:cNvGraphicFramePr>
            <a:graphicFrameLocks/>
          </p:cNvGraphicFramePr>
          <p:nvPr>
            <p:extLst>
              <p:ext uri="{D42A27DB-BD31-4B8C-83A1-F6EECF244321}">
                <p14:modId xmlns:p14="http://schemas.microsoft.com/office/powerpoint/2010/main" val="3319756860"/>
              </p:ext>
            </p:extLst>
          </p:nvPr>
        </p:nvGraphicFramePr>
        <p:xfrm>
          <a:off x="220172" y="2246494"/>
          <a:ext cx="4593771" cy="3407229"/>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7"/>
          <p:cNvSpPr txBox="1">
            <a:spLocks noGrp="1"/>
          </p:cNvSpPr>
          <p:nvPr>
            <p:ph type="title"/>
          </p:nvPr>
        </p:nvSpPr>
        <p:spPr>
          <a:xfrm>
            <a:off x="1629285" y="285518"/>
            <a:ext cx="10366070" cy="9915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3600"/>
              <a:buFont typeface="Twentieth Century"/>
              <a:buNone/>
            </a:pPr>
            <a:r>
              <a:rPr lang="en-US" dirty="0">
                <a:solidFill>
                  <a:srgbClr val="FF0000"/>
                </a:solidFill>
              </a:rPr>
              <a:t>   </a:t>
            </a:r>
            <a:r>
              <a:rPr lang="en-US" sz="2800" b="1" dirty="0">
                <a:solidFill>
                  <a:srgbClr val="FF0000"/>
                </a:solidFill>
              </a:rPr>
              <a:t>AVG PRICE &amp; PAYMENT FOR SAOPAULO</a:t>
            </a:r>
            <a:endParaRPr sz="2800" b="1" dirty="0">
              <a:solidFill>
                <a:srgbClr val="FF0000"/>
              </a:solidFill>
            </a:endParaRPr>
          </a:p>
        </p:txBody>
      </p:sp>
      <p:sp>
        <p:nvSpPr>
          <p:cNvPr id="210" name="Google Shape;210;p27"/>
          <p:cNvSpPr txBox="1">
            <a:spLocks noGrp="1"/>
          </p:cNvSpPr>
          <p:nvPr>
            <p:ph idx="1"/>
          </p:nvPr>
        </p:nvSpPr>
        <p:spPr>
          <a:xfrm>
            <a:off x="5937517" y="2345136"/>
            <a:ext cx="5614220" cy="3042941"/>
          </a:xfrm>
          <a:prstGeom prst="rect">
            <a:avLst/>
          </a:prstGeom>
          <a:noFill/>
          <a:ln>
            <a:noFill/>
          </a:ln>
        </p:spPr>
        <p:txBody>
          <a:bodyPr spcFirstLastPara="1" wrap="square" lIns="91425" tIns="45700" rIns="91425" bIns="45700" anchor="t" anchorCtr="0">
            <a:normAutofit/>
          </a:bodyPr>
          <a:lstStyle/>
          <a:p>
            <a:pPr marL="0" lvl="0" indent="0" algn="l" rtl="0">
              <a:lnSpc>
                <a:spcPct val="120000"/>
              </a:lnSpc>
              <a:spcBef>
                <a:spcPts val="0"/>
              </a:spcBef>
              <a:spcAft>
                <a:spcPts val="0"/>
              </a:spcAft>
              <a:buSzPts val="2000"/>
              <a:buNone/>
            </a:pPr>
            <a:r>
              <a:rPr lang="en-US" sz="2000" b="1" dirty="0">
                <a:solidFill>
                  <a:schemeClr val="tx1"/>
                </a:solidFill>
                <a:latin typeface="Arial" panose="020B0604020202020204" pitchFamily="34" charset="0"/>
                <a:cs typeface="Arial" panose="020B0604020202020204" pitchFamily="34" charset="0"/>
              </a:rPr>
              <a:t>The analysis of average price and payment values from customers of Sao Paulo city helps in understanding the spending patterns of customers in this region. It also helps </a:t>
            </a:r>
            <a:r>
              <a:rPr lang="en-US" sz="2000" b="1" dirty="0" err="1">
                <a:solidFill>
                  <a:schemeClr val="tx1"/>
                </a:solidFill>
                <a:latin typeface="Arial" panose="020B0604020202020204" pitchFamily="34" charset="0"/>
                <a:cs typeface="Arial" panose="020B0604020202020204" pitchFamily="34" charset="0"/>
              </a:rPr>
              <a:t>Olist</a:t>
            </a:r>
            <a:r>
              <a:rPr lang="en-US" sz="2000" b="1" dirty="0">
                <a:solidFill>
                  <a:schemeClr val="tx1"/>
                </a:solidFill>
                <a:latin typeface="Arial" panose="020B0604020202020204" pitchFamily="34" charset="0"/>
                <a:cs typeface="Arial" panose="020B0604020202020204" pitchFamily="34" charset="0"/>
              </a:rPr>
              <a:t> in identifying high-value customers and creating targeted marketing campaigns</a:t>
            </a:r>
            <a:r>
              <a:rPr lang="en-US" b="1" dirty="0">
                <a:solidFill>
                  <a:schemeClr val="tx1"/>
                </a:solidFill>
                <a:latin typeface="Arial" panose="020B0604020202020204" pitchFamily="34" charset="0"/>
                <a:cs typeface="Arial" panose="020B0604020202020204" pitchFamily="34" charset="0"/>
              </a:rPr>
              <a:t>.</a:t>
            </a:r>
          </a:p>
        </p:txBody>
      </p:sp>
      <p:sp>
        <p:nvSpPr>
          <p:cNvPr id="211" name="Google Shape;211;p27"/>
          <p:cNvSpPr/>
          <p:nvPr/>
        </p:nvSpPr>
        <p:spPr>
          <a:xfrm>
            <a:off x="1115862" y="388268"/>
            <a:ext cx="1165222" cy="786000"/>
          </a:xfrm>
          <a:prstGeom prst="rightArrow">
            <a:avLst>
              <a:gd name="adj1" fmla="val 50000"/>
              <a:gd name="adj2" fmla="val 50000"/>
            </a:avLst>
          </a:prstGeom>
          <a:solidFill>
            <a:schemeClr val="accent1"/>
          </a:solidFill>
          <a:ln w="15875" cap="flat" cmpd="sng">
            <a:solidFill>
              <a:srgbClr val="A536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dirty="0">
                <a:solidFill>
                  <a:schemeClr val="lt1"/>
                </a:solidFill>
                <a:latin typeface="Twentieth Century"/>
                <a:ea typeface="Twentieth Century"/>
                <a:cs typeface="Twentieth Century"/>
                <a:sym typeface="Twentieth Century"/>
              </a:rPr>
              <a:t>KPI - 4</a:t>
            </a:r>
            <a:endParaRPr dirty="0"/>
          </a:p>
        </p:txBody>
      </p:sp>
      <p:graphicFrame>
        <p:nvGraphicFramePr>
          <p:cNvPr id="2" name="Chart 1">
            <a:extLst>
              <a:ext uri="{FF2B5EF4-FFF2-40B4-BE49-F238E27FC236}">
                <a16:creationId xmlns:a16="http://schemas.microsoft.com/office/drawing/2014/main" id="{41F2438E-4B51-4441-A07F-C5905C449431}"/>
              </a:ext>
            </a:extLst>
          </p:cNvPr>
          <p:cNvGraphicFramePr>
            <a:graphicFrameLocks/>
          </p:cNvGraphicFramePr>
          <p:nvPr>
            <p:extLst>
              <p:ext uri="{D42A27DB-BD31-4B8C-83A1-F6EECF244321}">
                <p14:modId xmlns:p14="http://schemas.microsoft.com/office/powerpoint/2010/main" val="974079682"/>
              </p:ext>
            </p:extLst>
          </p:nvPr>
        </p:nvGraphicFramePr>
        <p:xfrm>
          <a:off x="488194" y="2069832"/>
          <a:ext cx="4648200" cy="3864429"/>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8"/>
          <p:cNvSpPr txBox="1">
            <a:spLocks noGrp="1"/>
          </p:cNvSpPr>
          <p:nvPr>
            <p:ph type="title"/>
          </p:nvPr>
        </p:nvSpPr>
        <p:spPr>
          <a:xfrm>
            <a:off x="491612" y="245807"/>
            <a:ext cx="11316929" cy="109987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14084"/>
              <a:buFont typeface="Twentieth Century"/>
              <a:buNone/>
            </a:pPr>
            <a:r>
              <a:rPr lang="en-US" sz="3155" b="1" dirty="0">
                <a:solidFill>
                  <a:srgbClr val="FF0000"/>
                </a:solidFill>
              </a:rPr>
              <a:t>AVERAGE SHIPPING DAYS </a:t>
            </a:r>
            <a:br>
              <a:rPr lang="en-US" sz="3155" b="1" dirty="0">
                <a:solidFill>
                  <a:srgbClr val="FF0000"/>
                </a:solidFill>
              </a:rPr>
            </a:br>
            <a:r>
              <a:rPr lang="en-US" sz="3155" b="1" dirty="0">
                <a:solidFill>
                  <a:srgbClr val="FF0000"/>
                </a:solidFill>
              </a:rPr>
              <a:t>VS </a:t>
            </a:r>
            <a:br>
              <a:rPr lang="en-US" sz="3155" b="1" dirty="0">
                <a:solidFill>
                  <a:srgbClr val="FF0000"/>
                </a:solidFill>
              </a:rPr>
            </a:br>
            <a:r>
              <a:rPr lang="en-US" sz="3155" b="1" dirty="0">
                <a:solidFill>
                  <a:srgbClr val="FF0000"/>
                </a:solidFill>
              </a:rPr>
              <a:t>     REVIEW SCORES</a:t>
            </a:r>
            <a:endParaRPr sz="3155" dirty="0"/>
          </a:p>
        </p:txBody>
      </p:sp>
      <p:sp>
        <p:nvSpPr>
          <p:cNvPr id="218" name="Google Shape;218;p28"/>
          <p:cNvSpPr txBox="1">
            <a:spLocks noGrp="1"/>
          </p:cNvSpPr>
          <p:nvPr>
            <p:ph idx="1"/>
          </p:nvPr>
        </p:nvSpPr>
        <p:spPr>
          <a:xfrm>
            <a:off x="6479457" y="2383628"/>
            <a:ext cx="5329084" cy="2925791"/>
          </a:xfrm>
          <a:prstGeom prst="rect">
            <a:avLst/>
          </a:prstGeom>
          <a:noFill/>
          <a:ln>
            <a:noFill/>
          </a:ln>
        </p:spPr>
        <p:txBody>
          <a:bodyPr spcFirstLastPara="1" wrap="square" lIns="91425" tIns="45700" rIns="91425" bIns="45700" anchor="t" anchorCtr="0">
            <a:normAutofit/>
          </a:bodyPr>
          <a:lstStyle/>
          <a:p>
            <a:pPr marL="0" lvl="0" indent="0" algn="l" rtl="0">
              <a:lnSpc>
                <a:spcPct val="120000"/>
              </a:lnSpc>
              <a:spcBef>
                <a:spcPts val="0"/>
              </a:spcBef>
              <a:spcAft>
                <a:spcPts val="0"/>
              </a:spcAft>
              <a:buSzPct val="100000"/>
              <a:buNone/>
            </a:pPr>
            <a:r>
              <a:rPr lang="en-US" sz="2000" b="1" dirty="0">
                <a:latin typeface="Arial" panose="020B0604020202020204" pitchFamily="34" charset="0"/>
                <a:cs typeface="Arial" panose="020B0604020202020204" pitchFamily="34" charset="0"/>
              </a:rPr>
              <a:t>This KPI analyzes the relationship between shipping days and review scores. It helps in understanding the impact of delivery time on customer satisfaction levels. </a:t>
            </a:r>
            <a:r>
              <a:rPr lang="en-US" sz="2000" b="1" dirty="0" err="1">
                <a:latin typeface="Arial" panose="020B0604020202020204" pitchFamily="34" charset="0"/>
                <a:cs typeface="Arial" panose="020B0604020202020204" pitchFamily="34" charset="0"/>
              </a:rPr>
              <a:t>Olist</a:t>
            </a:r>
            <a:r>
              <a:rPr lang="en-US" sz="2000" b="1" dirty="0">
                <a:latin typeface="Arial" panose="020B0604020202020204" pitchFamily="34" charset="0"/>
                <a:cs typeface="Arial" panose="020B0604020202020204" pitchFamily="34" charset="0"/>
              </a:rPr>
              <a:t> can use this information to optimize their logistics and improve their delivery time.</a:t>
            </a:r>
          </a:p>
        </p:txBody>
      </p:sp>
      <p:sp>
        <p:nvSpPr>
          <p:cNvPr id="219" name="Google Shape;219;p28"/>
          <p:cNvSpPr/>
          <p:nvPr/>
        </p:nvSpPr>
        <p:spPr>
          <a:xfrm>
            <a:off x="855186" y="335479"/>
            <a:ext cx="1189924" cy="813898"/>
          </a:xfrm>
          <a:prstGeom prst="rightArrow">
            <a:avLst>
              <a:gd name="adj1" fmla="val 50000"/>
              <a:gd name="adj2" fmla="val 50000"/>
            </a:avLst>
          </a:prstGeom>
          <a:solidFill>
            <a:schemeClr val="accent1"/>
          </a:solidFill>
          <a:ln w="15875" cap="flat" cmpd="sng">
            <a:solidFill>
              <a:srgbClr val="A536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dirty="0">
                <a:solidFill>
                  <a:schemeClr val="lt1"/>
                </a:solidFill>
                <a:latin typeface="Twentieth Century"/>
                <a:ea typeface="Twentieth Century"/>
                <a:cs typeface="Twentieth Century"/>
                <a:sym typeface="Twentieth Century"/>
              </a:rPr>
              <a:t>KPI - 5</a:t>
            </a:r>
            <a:endParaRPr dirty="0"/>
          </a:p>
        </p:txBody>
      </p:sp>
      <p:graphicFrame>
        <p:nvGraphicFramePr>
          <p:cNvPr id="2" name="Chart 1">
            <a:extLst>
              <a:ext uri="{FF2B5EF4-FFF2-40B4-BE49-F238E27FC236}">
                <a16:creationId xmlns:a16="http://schemas.microsoft.com/office/drawing/2014/main" id="{8C407876-11D4-4715-B39B-C0B184980709}"/>
              </a:ext>
            </a:extLst>
          </p:cNvPr>
          <p:cNvGraphicFramePr>
            <a:graphicFrameLocks/>
          </p:cNvGraphicFramePr>
          <p:nvPr>
            <p:extLst>
              <p:ext uri="{D42A27DB-BD31-4B8C-83A1-F6EECF244321}">
                <p14:modId xmlns:p14="http://schemas.microsoft.com/office/powerpoint/2010/main" val="4019728652"/>
              </p:ext>
            </p:extLst>
          </p:nvPr>
        </p:nvGraphicFramePr>
        <p:xfrm>
          <a:off x="-69046" y="2187327"/>
          <a:ext cx="6585857" cy="3407228"/>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9"/>
          <p:cNvSpPr txBox="1">
            <a:spLocks noGrp="1"/>
          </p:cNvSpPr>
          <p:nvPr>
            <p:ph type="title"/>
          </p:nvPr>
        </p:nvSpPr>
        <p:spPr>
          <a:xfrm>
            <a:off x="353961" y="618544"/>
            <a:ext cx="10924214" cy="5439300"/>
          </a:xfrm>
          <a:prstGeom prst="rect">
            <a:avLst/>
          </a:prstGeom>
        </p:spPr>
        <p:txBody>
          <a:bodyPr spcFirstLastPara="1" wrap="square" lIns="91425" tIns="45700" rIns="91425" bIns="45700" anchor="t" anchorCtr="0">
            <a:normAutofit/>
          </a:bodyPr>
          <a:lstStyle/>
          <a:p>
            <a:pPr marL="0" lvl="0" indent="0" algn="ctr" rtl="0">
              <a:spcBef>
                <a:spcPts val="0"/>
              </a:spcBef>
              <a:spcAft>
                <a:spcPts val="0"/>
              </a:spcAft>
              <a:buNone/>
            </a:pPr>
            <a:r>
              <a:rPr lang="en-US" sz="5500" b="1" dirty="0">
                <a:solidFill>
                  <a:srgbClr val="38761D"/>
                </a:solidFill>
              </a:rPr>
              <a:t>MS EXCEL DASHBOARD</a:t>
            </a:r>
            <a:r>
              <a:rPr lang="en-US" dirty="0">
                <a:solidFill>
                  <a:srgbClr val="38761D"/>
                </a:solidFill>
              </a:rPr>
              <a:t> </a:t>
            </a:r>
            <a:endParaRPr dirty="0">
              <a:solidFill>
                <a:srgbClr val="38761D"/>
              </a:solidFill>
            </a:endParaRPr>
          </a:p>
        </p:txBody>
      </p:sp>
      <p:pic>
        <p:nvPicPr>
          <p:cNvPr id="226" name="Google Shape;226;p29" title="cyber_topic_67.jpg"/>
          <p:cNvPicPr preferRelativeResize="0"/>
          <p:nvPr/>
        </p:nvPicPr>
        <p:blipFill>
          <a:blip r:embed="rId3">
            <a:alphaModFix/>
          </a:blip>
          <a:stretch>
            <a:fillRect/>
          </a:stretch>
        </p:blipFill>
        <p:spPr>
          <a:xfrm>
            <a:off x="2652138" y="2395300"/>
            <a:ext cx="6887676" cy="2884625"/>
          </a:xfrm>
          <a:prstGeom prst="rect">
            <a:avLst/>
          </a:prstGeom>
          <a:noFill/>
          <a:ln>
            <a:noFill/>
          </a:ln>
        </p:spPr>
      </p:pic>
      <p:sp>
        <p:nvSpPr>
          <p:cNvPr id="227" name="Google Shape;227;p29"/>
          <p:cNvSpPr/>
          <p:nvPr/>
        </p:nvSpPr>
        <p:spPr>
          <a:xfrm>
            <a:off x="10185305" y="1595160"/>
            <a:ext cx="714600" cy="452400"/>
          </a:xfrm>
          <a:prstGeom prst="rightArrow">
            <a:avLst>
              <a:gd name="adj1" fmla="val 50000"/>
              <a:gd name="adj2" fmla="val 50000"/>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38761D"/>
              </a:solidFill>
              <a:latin typeface="Twentieth Century"/>
              <a:ea typeface="Twentieth Century"/>
              <a:cs typeface="Twentieth Century"/>
              <a:sym typeface="Twentieth Century"/>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graph&#10;&#10;AI-generated content may be incorrect.">
            <a:extLst>
              <a:ext uri="{FF2B5EF4-FFF2-40B4-BE49-F238E27FC236}">
                <a16:creationId xmlns:a16="http://schemas.microsoft.com/office/drawing/2014/main" id="{D43123EF-C1B7-F6B4-3D22-BDA929723CD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27388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1"/>
          <p:cNvSpPr txBox="1">
            <a:spLocks noGrp="1"/>
          </p:cNvSpPr>
          <p:nvPr>
            <p:ph type="title"/>
          </p:nvPr>
        </p:nvSpPr>
        <p:spPr>
          <a:xfrm>
            <a:off x="913775" y="618544"/>
            <a:ext cx="10364400" cy="5396700"/>
          </a:xfrm>
          <a:prstGeom prst="rect">
            <a:avLst/>
          </a:prstGeom>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None/>
            </a:pPr>
            <a:r>
              <a:rPr lang="en-US" sz="5500" b="1">
                <a:solidFill>
                  <a:srgbClr val="FFD966"/>
                </a:solidFill>
              </a:rPr>
              <a:t>POWER</a:t>
            </a:r>
            <a:r>
              <a:rPr lang="en-US" sz="5500" b="1">
                <a:solidFill>
                  <a:srgbClr val="F1C232"/>
                </a:solidFill>
              </a:rPr>
              <a:t> BI </a:t>
            </a:r>
            <a:r>
              <a:rPr lang="en-US" sz="5500" b="1">
                <a:solidFill>
                  <a:srgbClr val="BF9000"/>
                </a:solidFill>
              </a:rPr>
              <a:t>DASHBOARD</a:t>
            </a:r>
            <a:endParaRPr sz="5500" b="1">
              <a:solidFill>
                <a:srgbClr val="BF9000"/>
              </a:solidFill>
            </a:endParaRPr>
          </a:p>
        </p:txBody>
      </p:sp>
      <p:pic>
        <p:nvPicPr>
          <p:cNvPr id="240" name="Google Shape;240;p31" title="Power-BI-Logo.png"/>
          <p:cNvPicPr preferRelativeResize="0"/>
          <p:nvPr/>
        </p:nvPicPr>
        <p:blipFill>
          <a:blip r:embed="rId3">
            <a:alphaModFix/>
          </a:blip>
          <a:stretch>
            <a:fillRect/>
          </a:stretch>
        </p:blipFill>
        <p:spPr>
          <a:xfrm>
            <a:off x="2224738" y="1377250"/>
            <a:ext cx="7742536" cy="4355176"/>
          </a:xfrm>
          <a:prstGeom prst="rect">
            <a:avLst/>
          </a:prstGeom>
          <a:noFill/>
          <a:ln>
            <a:noFill/>
          </a:ln>
        </p:spPr>
      </p:pic>
      <p:sp>
        <p:nvSpPr>
          <p:cNvPr id="241" name="Google Shape;241;p31"/>
          <p:cNvSpPr/>
          <p:nvPr/>
        </p:nvSpPr>
        <p:spPr>
          <a:xfrm>
            <a:off x="10057486" y="1467340"/>
            <a:ext cx="714600" cy="452400"/>
          </a:xfrm>
          <a:prstGeom prst="rightArrow">
            <a:avLst>
              <a:gd name="adj1" fmla="val 50000"/>
              <a:gd name="adj2" fmla="val 50000"/>
            </a:avLst>
          </a:prstGeom>
          <a:solidFill>
            <a:srgbClr val="BF9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BF9000"/>
              </a:solidFill>
              <a:latin typeface="Twentieth Century"/>
              <a:ea typeface="Twentieth Century"/>
              <a:cs typeface="Twentieth Century"/>
              <a:sym typeface="Twentieth Century"/>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pic>
        <p:nvPicPr>
          <p:cNvPr id="4" name="Google Shape;247;p32"/>
          <p:cNvPicPr preferRelativeResize="0">
            <a:picLocks/>
          </p:cNvPicPr>
          <p:nvPr/>
        </p:nvPicPr>
        <p:blipFill rotWithShape="1">
          <a:blip r:embed="rId3">
            <a:alphaModFix/>
          </a:blip>
          <a:srcRect/>
          <a:stretch/>
        </p:blipFill>
        <p:spPr>
          <a:xfrm>
            <a:off x="-8056" y="0"/>
            <a:ext cx="12200056" cy="6858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 screen&#10;&#10;AI-generated content may be incorrect.">
            <a:extLst>
              <a:ext uri="{FF2B5EF4-FFF2-40B4-BE49-F238E27FC236}">
                <a16:creationId xmlns:a16="http://schemas.microsoft.com/office/drawing/2014/main" id="{E18459EE-6A58-AD19-DC40-B6EBD63C2522}"/>
              </a:ext>
            </a:extLst>
          </p:cNvPr>
          <p:cNvPicPr>
            <a:picLocks noChangeAspect="1"/>
          </p:cNvPicPr>
          <p:nvPr/>
        </p:nvPicPr>
        <p:blipFill>
          <a:blip r:embed="rId2"/>
          <a:stretch>
            <a:fillRect/>
          </a:stretch>
        </p:blipFill>
        <p:spPr>
          <a:xfrm>
            <a:off x="0" y="0"/>
            <a:ext cx="12192000" cy="7000568"/>
          </a:xfrm>
          <a:prstGeom prst="rect">
            <a:avLst/>
          </a:prstGeom>
        </p:spPr>
      </p:pic>
    </p:spTree>
    <p:extLst>
      <p:ext uri="{BB962C8B-B14F-4D97-AF65-F5344CB8AC3E}">
        <p14:creationId xmlns:p14="http://schemas.microsoft.com/office/powerpoint/2010/main" val="100905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3"/>
          <p:cNvSpPr txBox="1">
            <a:spLocks noGrp="1"/>
          </p:cNvSpPr>
          <p:nvPr>
            <p:ph type="title"/>
          </p:nvPr>
        </p:nvSpPr>
        <p:spPr>
          <a:xfrm>
            <a:off x="717755" y="618544"/>
            <a:ext cx="10560420" cy="5693766"/>
          </a:xfrm>
          <a:prstGeom prst="rect">
            <a:avLst/>
          </a:prstGeom>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None/>
            </a:pPr>
            <a:r>
              <a:rPr lang="en-US" sz="5500" b="1">
                <a:solidFill>
                  <a:srgbClr val="6D9EEB"/>
                </a:solidFill>
              </a:rPr>
              <a:t>TABLEAU</a:t>
            </a:r>
            <a:r>
              <a:rPr lang="en-US" sz="5500" b="1">
                <a:solidFill>
                  <a:srgbClr val="4A86E8"/>
                </a:solidFill>
              </a:rPr>
              <a:t> </a:t>
            </a:r>
            <a:r>
              <a:rPr lang="en-US" sz="5500" b="1">
                <a:solidFill>
                  <a:srgbClr val="3C78D8"/>
                </a:solidFill>
              </a:rPr>
              <a:t>DASHBOARD</a:t>
            </a:r>
            <a:endParaRPr sz="5500" b="1">
              <a:solidFill>
                <a:srgbClr val="3C78D8"/>
              </a:solidFill>
            </a:endParaRPr>
          </a:p>
        </p:txBody>
      </p:sp>
      <p:pic>
        <p:nvPicPr>
          <p:cNvPr id="253" name="Google Shape;253;p33"/>
          <p:cNvPicPr preferRelativeResize="0"/>
          <p:nvPr/>
        </p:nvPicPr>
        <p:blipFill>
          <a:blip r:embed="rId3">
            <a:alphaModFix/>
          </a:blip>
          <a:stretch>
            <a:fillRect/>
          </a:stretch>
        </p:blipFill>
        <p:spPr>
          <a:xfrm>
            <a:off x="4257750" y="2016000"/>
            <a:ext cx="3676450" cy="2601800"/>
          </a:xfrm>
          <a:prstGeom prst="rect">
            <a:avLst/>
          </a:prstGeom>
          <a:noFill/>
          <a:ln>
            <a:noFill/>
          </a:ln>
        </p:spPr>
      </p:pic>
      <p:sp>
        <p:nvSpPr>
          <p:cNvPr id="254" name="Google Shape;254;p33"/>
          <p:cNvSpPr/>
          <p:nvPr/>
        </p:nvSpPr>
        <p:spPr>
          <a:xfrm>
            <a:off x="10077150" y="1412664"/>
            <a:ext cx="714600" cy="452400"/>
          </a:xfrm>
          <a:prstGeom prst="rightArrow">
            <a:avLst>
              <a:gd name="adj1" fmla="val 50000"/>
              <a:gd name="adj2" fmla="val 50000"/>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38761D"/>
              </a:solidFill>
              <a:latin typeface="Twentieth Century"/>
              <a:ea typeface="Twentieth Century"/>
              <a:cs typeface="Twentieth Century"/>
              <a:sym typeface="Twentieth Century"/>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wentieth Century"/>
              <a:buNone/>
            </a:pPr>
            <a:endParaRPr/>
          </a:p>
        </p:txBody>
      </p:sp>
      <p:sp>
        <p:nvSpPr>
          <p:cNvPr id="260" name="Google Shape;260;p34"/>
          <p:cNvSpPr/>
          <p:nvPr/>
        </p:nvSpPr>
        <p:spPr>
          <a:xfrm>
            <a:off x="914400" y="2384892"/>
            <a:ext cx="10363200" cy="3424237"/>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lnTo>
                  <a:pt x="-10000" y="120000"/>
                </a:lnTo>
              </a:path>
              <a:path w="120000" h="120000" fill="none" extrusionOk="0">
                <a:moveTo>
                  <a:pt x="-10000" y="22500"/>
                </a:moveTo>
                <a:lnTo>
                  <a:pt x="-46000" y="135000"/>
                </a:lnTo>
              </a:path>
            </a:pathLst>
          </a:custGeom>
          <a:noFill/>
          <a:ln>
            <a:noFill/>
          </a:ln>
        </p:spPr>
        <p:txBody>
          <a:bodyPr spcFirstLastPara="1" wrap="square" lIns="91425" tIns="45700" rIns="91425" bIns="45700" anchor="ctr" anchorCtr="1">
            <a:noAutofit/>
          </a:bodyPr>
          <a:lstStyle/>
          <a:p>
            <a:pPr marL="0" lvl="0" indent="0" algn="l" rtl="0">
              <a:spcBef>
                <a:spcPts val="0"/>
              </a:spcBef>
              <a:spcAft>
                <a:spcPts val="0"/>
              </a:spcAft>
              <a:buNone/>
            </a:pPr>
            <a:endParaRPr/>
          </a:p>
        </p:txBody>
      </p:sp>
      <p:pic>
        <p:nvPicPr>
          <p:cNvPr id="261" name="Google Shape;261;p34" title="tableau ss.png"/>
          <p:cNvPicPr preferRelativeResize="0"/>
          <p:nvPr/>
        </p:nvPicPr>
        <p:blipFill>
          <a:blip r:embed="rId3">
            <a:alphaModFix/>
          </a:blip>
          <a:stretch>
            <a:fillRect/>
          </a:stretch>
        </p:blipFill>
        <p:spPr>
          <a:xfrm>
            <a:off x="0" y="0"/>
            <a:ext cx="12191998" cy="6858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8C3D3BCF-E5FC-7115-6770-B2EF6487919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541979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5"/>
          <p:cNvSpPr txBox="1">
            <a:spLocks noGrp="1"/>
          </p:cNvSpPr>
          <p:nvPr>
            <p:ph type="title"/>
          </p:nvPr>
        </p:nvSpPr>
        <p:spPr>
          <a:xfrm>
            <a:off x="913775" y="618544"/>
            <a:ext cx="10364400" cy="5396700"/>
          </a:xfrm>
          <a:prstGeom prst="rect">
            <a:avLst/>
          </a:prstGeom>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None/>
            </a:pPr>
            <a:r>
              <a:rPr lang="en-US" sz="5500" b="1">
                <a:solidFill>
                  <a:srgbClr val="3C78D8"/>
                </a:solidFill>
              </a:rPr>
              <a:t>SQL</a:t>
            </a:r>
            <a:r>
              <a:rPr lang="en-US" sz="5500" b="1">
                <a:solidFill>
                  <a:schemeClr val="lt2"/>
                </a:solidFill>
              </a:rPr>
              <a:t> </a:t>
            </a:r>
            <a:r>
              <a:rPr lang="en-US" sz="5500" b="1">
                <a:solidFill>
                  <a:srgbClr val="1155CC"/>
                </a:solidFill>
              </a:rPr>
              <a:t>QUERY</a:t>
            </a:r>
            <a:endParaRPr sz="5500" b="1">
              <a:solidFill>
                <a:srgbClr val="1155CC"/>
              </a:solidFill>
            </a:endParaRPr>
          </a:p>
        </p:txBody>
      </p:sp>
      <p:pic>
        <p:nvPicPr>
          <p:cNvPr id="267" name="Google Shape;267;p35"/>
          <p:cNvPicPr preferRelativeResize="0"/>
          <p:nvPr/>
        </p:nvPicPr>
        <p:blipFill>
          <a:blip r:embed="rId3">
            <a:alphaModFix/>
          </a:blip>
          <a:stretch>
            <a:fillRect/>
          </a:stretch>
        </p:blipFill>
        <p:spPr>
          <a:xfrm>
            <a:off x="4595725" y="1928725"/>
            <a:ext cx="3198350" cy="2799750"/>
          </a:xfrm>
          <a:prstGeom prst="rect">
            <a:avLst/>
          </a:prstGeom>
          <a:noFill/>
          <a:ln>
            <a:noFill/>
          </a:ln>
        </p:spPr>
      </p:pic>
      <p:sp>
        <p:nvSpPr>
          <p:cNvPr id="268" name="Google Shape;268;p35"/>
          <p:cNvSpPr/>
          <p:nvPr/>
        </p:nvSpPr>
        <p:spPr>
          <a:xfrm>
            <a:off x="8875225" y="797550"/>
            <a:ext cx="714600" cy="452400"/>
          </a:xfrm>
          <a:prstGeom prst="rightArrow">
            <a:avLst>
              <a:gd name="adj1" fmla="val 50000"/>
              <a:gd name="adj2" fmla="val 50000"/>
            </a:avLst>
          </a:prstGeom>
          <a:solidFill>
            <a:srgbClr val="1C458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38761D"/>
              </a:solidFill>
              <a:latin typeface="Twentieth Century"/>
              <a:ea typeface="Twentieth Century"/>
              <a:cs typeface="Twentieth Century"/>
              <a:sym typeface="Twentieth Century"/>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6"/>
          <p:cNvSpPr txBox="1">
            <a:spLocks noGrp="1"/>
          </p:cNvSpPr>
          <p:nvPr>
            <p:ph type="title"/>
          </p:nvPr>
        </p:nvSpPr>
        <p:spPr>
          <a:xfrm>
            <a:off x="216310" y="152401"/>
            <a:ext cx="11749548" cy="382846"/>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1400" b="1" dirty="0"/>
              <a:t>KPI-1 NUMBER OF ORDERS WITH REVIEW SCORE 5 AND PAYMENT TYPE AS CREDIT CARD </a:t>
            </a:r>
            <a:endParaRPr sz="1400" b="1" dirty="0"/>
          </a:p>
        </p:txBody>
      </p:sp>
      <p:sp>
        <p:nvSpPr>
          <p:cNvPr id="278" name="Google Shape;278;p36"/>
          <p:cNvSpPr txBox="1">
            <a:spLocks noGrp="1"/>
          </p:cNvSpPr>
          <p:nvPr>
            <p:ph type="title" idx="4294967295"/>
          </p:nvPr>
        </p:nvSpPr>
        <p:spPr>
          <a:xfrm>
            <a:off x="2271252" y="3187379"/>
            <a:ext cx="8091948" cy="339055"/>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1400" b="1" dirty="0"/>
              <a:t>KPI-2 PERCENTAGE OF ORDERS DELIVERED LATE </a:t>
            </a:r>
            <a:endParaRPr sz="1400" b="1" dirty="0"/>
          </a:p>
        </p:txBody>
      </p:sp>
      <p:pic>
        <p:nvPicPr>
          <p:cNvPr id="274" name="Google Shape;274;p36" title="IMG-20251012-WA0008.jpg"/>
          <p:cNvPicPr preferRelativeResize="0"/>
          <p:nvPr/>
        </p:nvPicPr>
        <p:blipFill rotWithShape="1">
          <a:blip r:embed="rId3">
            <a:alphaModFix/>
          </a:blip>
          <a:srcRect l="21942" t="25512" r="40479" b="43195"/>
          <a:stretch/>
        </p:blipFill>
        <p:spPr>
          <a:xfrm>
            <a:off x="226142" y="670172"/>
            <a:ext cx="5648266" cy="2437127"/>
          </a:xfrm>
          <a:prstGeom prst="rect">
            <a:avLst/>
          </a:prstGeom>
          <a:noFill/>
          <a:ln>
            <a:noFill/>
          </a:ln>
        </p:spPr>
      </p:pic>
      <p:pic>
        <p:nvPicPr>
          <p:cNvPr id="275" name="Google Shape;275;p36" title="IMG-20251012-WA0013.jpg"/>
          <p:cNvPicPr preferRelativeResize="0"/>
          <p:nvPr/>
        </p:nvPicPr>
        <p:blipFill rotWithShape="1">
          <a:blip r:embed="rId4">
            <a:alphaModFix/>
          </a:blip>
          <a:srcRect t="73255" r="55626" b="10573"/>
          <a:stretch/>
        </p:blipFill>
        <p:spPr>
          <a:xfrm>
            <a:off x="6931742" y="1238866"/>
            <a:ext cx="5034116" cy="1229032"/>
          </a:xfrm>
          <a:prstGeom prst="rect">
            <a:avLst/>
          </a:prstGeom>
          <a:noFill/>
          <a:ln>
            <a:noFill/>
          </a:ln>
        </p:spPr>
      </p:pic>
      <p:sp>
        <p:nvSpPr>
          <p:cNvPr id="276" name="Google Shape;276;p36"/>
          <p:cNvSpPr txBox="1"/>
          <p:nvPr/>
        </p:nvSpPr>
        <p:spPr>
          <a:xfrm>
            <a:off x="6029454" y="5156057"/>
            <a:ext cx="909600" cy="29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300" b="1" dirty="0">
                <a:solidFill>
                  <a:schemeClr val="dk1"/>
                </a:solidFill>
                <a:latin typeface="Twentieth Century"/>
                <a:ea typeface="Twentieth Century"/>
                <a:cs typeface="Twentieth Century"/>
                <a:sym typeface="Twentieth Century"/>
              </a:rPr>
              <a:t>OUTPUT :</a:t>
            </a:r>
            <a:endParaRPr sz="1300" b="1" dirty="0">
              <a:solidFill>
                <a:schemeClr val="dk1"/>
              </a:solidFill>
              <a:latin typeface="Twentieth Century"/>
              <a:ea typeface="Twentieth Century"/>
              <a:cs typeface="Twentieth Century"/>
              <a:sym typeface="Twentieth Century"/>
            </a:endParaRPr>
          </a:p>
        </p:txBody>
      </p:sp>
      <p:pic>
        <p:nvPicPr>
          <p:cNvPr id="277" name="Google Shape;277;p36" title="IMG-20251012-WA0010.jpg"/>
          <p:cNvPicPr preferRelativeResize="0"/>
          <p:nvPr/>
        </p:nvPicPr>
        <p:blipFill rotWithShape="1">
          <a:blip r:embed="rId5">
            <a:alphaModFix/>
          </a:blip>
          <a:srcRect l="22407" t="22656" r="36304" b="37838"/>
          <a:stretch/>
        </p:blipFill>
        <p:spPr>
          <a:xfrm>
            <a:off x="324465" y="3606514"/>
            <a:ext cx="5623811" cy="3099086"/>
          </a:xfrm>
          <a:prstGeom prst="rect">
            <a:avLst/>
          </a:prstGeom>
          <a:noFill/>
          <a:ln>
            <a:noFill/>
          </a:ln>
        </p:spPr>
      </p:pic>
      <p:sp>
        <p:nvSpPr>
          <p:cNvPr id="279" name="Google Shape;279;p36"/>
          <p:cNvSpPr txBox="1"/>
          <p:nvPr/>
        </p:nvSpPr>
        <p:spPr>
          <a:xfrm>
            <a:off x="5948275" y="1712813"/>
            <a:ext cx="909600" cy="29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300" b="1" dirty="0">
                <a:solidFill>
                  <a:schemeClr val="dk1"/>
                </a:solidFill>
                <a:latin typeface="Twentieth Century"/>
                <a:ea typeface="Twentieth Century"/>
                <a:cs typeface="Twentieth Century"/>
                <a:sym typeface="Twentieth Century"/>
              </a:rPr>
              <a:t>OUTPUT :</a:t>
            </a:r>
            <a:endParaRPr sz="1300" b="1" dirty="0">
              <a:solidFill>
                <a:schemeClr val="dk1"/>
              </a:solidFill>
              <a:latin typeface="Twentieth Century"/>
              <a:ea typeface="Twentieth Century"/>
              <a:cs typeface="Twentieth Century"/>
              <a:sym typeface="Twentieth Century"/>
            </a:endParaRPr>
          </a:p>
        </p:txBody>
      </p:sp>
      <p:pic>
        <p:nvPicPr>
          <p:cNvPr id="280" name="Google Shape;280;p36" title="IMG-20251012-WA0014.jpg"/>
          <p:cNvPicPr preferRelativeResize="0"/>
          <p:nvPr/>
        </p:nvPicPr>
        <p:blipFill rotWithShape="1">
          <a:blip r:embed="rId6">
            <a:alphaModFix/>
          </a:blip>
          <a:srcRect t="68037" r="56140" b="16905"/>
          <a:stretch/>
        </p:blipFill>
        <p:spPr>
          <a:xfrm>
            <a:off x="7020232" y="4874613"/>
            <a:ext cx="5034116" cy="111323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pic>
        <p:nvPicPr>
          <p:cNvPr id="285" name="Google Shape;285;p37" title="IMG-20251012-WA0009.jpg"/>
          <p:cNvPicPr preferRelativeResize="0"/>
          <p:nvPr/>
        </p:nvPicPr>
        <p:blipFill rotWithShape="1">
          <a:blip r:embed="rId3">
            <a:alphaModFix/>
          </a:blip>
          <a:srcRect l="21366" t="22652" r="38273" b="38460"/>
          <a:stretch/>
        </p:blipFill>
        <p:spPr>
          <a:xfrm>
            <a:off x="304800" y="727587"/>
            <a:ext cx="6223819" cy="2701413"/>
          </a:xfrm>
          <a:prstGeom prst="rect">
            <a:avLst/>
          </a:prstGeom>
          <a:noFill/>
          <a:ln>
            <a:noFill/>
          </a:ln>
        </p:spPr>
      </p:pic>
      <p:sp>
        <p:nvSpPr>
          <p:cNvPr id="286" name="Google Shape;286;p37"/>
          <p:cNvSpPr txBox="1">
            <a:spLocks noGrp="1"/>
          </p:cNvSpPr>
          <p:nvPr>
            <p:ph type="title"/>
          </p:nvPr>
        </p:nvSpPr>
        <p:spPr>
          <a:xfrm>
            <a:off x="914375" y="260375"/>
            <a:ext cx="10363800" cy="378722"/>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1400" b="1" dirty="0"/>
              <a:t>KPI-3 PERCENTAGE OF ORDERS WITH FREE SHIPPING BY PAYMENT TYPE</a:t>
            </a:r>
            <a:endParaRPr sz="1400" b="1" dirty="0"/>
          </a:p>
        </p:txBody>
      </p:sp>
      <p:sp>
        <p:nvSpPr>
          <p:cNvPr id="287" name="Google Shape;287;p37"/>
          <p:cNvSpPr txBox="1"/>
          <p:nvPr/>
        </p:nvSpPr>
        <p:spPr>
          <a:xfrm>
            <a:off x="6600408" y="1920443"/>
            <a:ext cx="909600" cy="29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300" b="1" dirty="0">
                <a:solidFill>
                  <a:schemeClr val="dk1"/>
                </a:solidFill>
                <a:latin typeface="Twentieth Century"/>
                <a:ea typeface="Twentieth Century"/>
                <a:cs typeface="Twentieth Century"/>
                <a:sym typeface="Twentieth Century"/>
              </a:rPr>
              <a:t>OUTPUT :</a:t>
            </a:r>
            <a:endParaRPr sz="1300" b="1" dirty="0">
              <a:solidFill>
                <a:schemeClr val="dk1"/>
              </a:solidFill>
              <a:latin typeface="Twentieth Century"/>
              <a:ea typeface="Twentieth Century"/>
              <a:cs typeface="Twentieth Century"/>
              <a:sym typeface="Twentieth Century"/>
            </a:endParaRPr>
          </a:p>
        </p:txBody>
      </p:sp>
      <p:pic>
        <p:nvPicPr>
          <p:cNvPr id="288" name="Google Shape;288;p37" title="IMG-20251012-WA0015.jpg"/>
          <p:cNvPicPr preferRelativeResize="0"/>
          <p:nvPr/>
        </p:nvPicPr>
        <p:blipFill rotWithShape="1">
          <a:blip r:embed="rId4">
            <a:alphaModFix/>
          </a:blip>
          <a:srcRect t="66056" r="55663" b="9513"/>
          <a:stretch/>
        </p:blipFill>
        <p:spPr>
          <a:xfrm>
            <a:off x="7581797" y="1012723"/>
            <a:ext cx="4408425" cy="1955125"/>
          </a:xfrm>
          <a:prstGeom prst="rect">
            <a:avLst/>
          </a:prstGeom>
          <a:noFill/>
          <a:ln>
            <a:noFill/>
          </a:ln>
        </p:spPr>
      </p:pic>
      <p:sp>
        <p:nvSpPr>
          <p:cNvPr id="294" name="Google Shape;294;p38"/>
          <p:cNvSpPr txBox="1">
            <a:spLocks/>
          </p:cNvSpPr>
          <p:nvPr/>
        </p:nvSpPr>
        <p:spPr bwMode="black">
          <a:xfrm>
            <a:off x="1012723" y="3542094"/>
            <a:ext cx="10521090" cy="378722"/>
          </a:xfrm>
          <a:prstGeom prst="rect">
            <a:avLst/>
          </a:prstGeom>
          <a:solidFill>
            <a:srgbClr val="FFFFFF"/>
          </a:solidFill>
          <a:ln w="31750" cap="sq">
            <a:solidFill>
              <a:srgbClr val="404040"/>
            </a:solidFill>
            <a:miter lim="800000"/>
          </a:ln>
        </p:spPr>
        <p:txBody>
          <a:bodyPr spcFirstLastPara="1" vert="horz" wrap="square" lIns="91425" tIns="45700" rIns="91425" bIns="45700" rtlCol="0" anchor="ctr" anchorCtr="0">
            <a:normAutofit/>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pPr>
              <a:spcBef>
                <a:spcPts val="0"/>
              </a:spcBef>
            </a:pPr>
            <a:r>
              <a:rPr lang="en-US" sz="1400" b="1" dirty="0"/>
              <a:t>KPI-4 AVERAGE DELIVERY TIME FOR PET SHOP</a:t>
            </a:r>
          </a:p>
        </p:txBody>
      </p:sp>
      <p:pic>
        <p:nvPicPr>
          <p:cNvPr id="293" name="Google Shape;293;p38" title="IMG-20251012-WA0004.jpg"/>
          <p:cNvPicPr preferRelativeResize="0"/>
          <p:nvPr/>
        </p:nvPicPr>
        <p:blipFill rotWithShape="1">
          <a:blip r:embed="rId5">
            <a:alphaModFix/>
          </a:blip>
          <a:srcRect l="22402" t="25337" r="22970" b="35568"/>
          <a:stretch/>
        </p:blipFill>
        <p:spPr>
          <a:xfrm>
            <a:off x="304800" y="4033910"/>
            <a:ext cx="6223819" cy="2677349"/>
          </a:xfrm>
          <a:prstGeom prst="rect">
            <a:avLst/>
          </a:prstGeom>
          <a:noFill/>
          <a:ln>
            <a:noFill/>
          </a:ln>
        </p:spPr>
      </p:pic>
      <p:sp>
        <p:nvSpPr>
          <p:cNvPr id="296" name="Google Shape;296;p38"/>
          <p:cNvSpPr txBox="1"/>
          <p:nvPr/>
        </p:nvSpPr>
        <p:spPr>
          <a:xfrm>
            <a:off x="6567948" y="5075584"/>
            <a:ext cx="909600" cy="29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300" b="1" dirty="0">
                <a:solidFill>
                  <a:schemeClr val="dk1"/>
                </a:solidFill>
                <a:latin typeface="Twentieth Century"/>
                <a:ea typeface="Twentieth Century"/>
                <a:cs typeface="Twentieth Century"/>
                <a:sym typeface="Twentieth Century"/>
              </a:rPr>
              <a:t>OUTPUT :</a:t>
            </a:r>
            <a:endParaRPr sz="1300" b="1" dirty="0">
              <a:solidFill>
                <a:schemeClr val="dk1"/>
              </a:solidFill>
              <a:latin typeface="Twentieth Century"/>
              <a:ea typeface="Twentieth Century"/>
              <a:cs typeface="Twentieth Century"/>
              <a:sym typeface="Twentieth Century"/>
            </a:endParaRPr>
          </a:p>
        </p:txBody>
      </p:sp>
      <p:pic>
        <p:nvPicPr>
          <p:cNvPr id="295" name="Google Shape;295;p38" title="IMG-20251012-WA0011.jpg"/>
          <p:cNvPicPr preferRelativeResize="0"/>
          <p:nvPr/>
        </p:nvPicPr>
        <p:blipFill rotWithShape="1">
          <a:blip r:embed="rId6">
            <a:alphaModFix/>
          </a:blip>
          <a:srcRect t="66227" r="55952" b="19423"/>
          <a:stretch/>
        </p:blipFill>
        <p:spPr>
          <a:xfrm>
            <a:off x="7384026" y="4640645"/>
            <a:ext cx="4714425" cy="1230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301" name="Google Shape;301;p39" title="IMG-20251012-WA0005.jpg"/>
          <p:cNvPicPr preferRelativeResize="0"/>
          <p:nvPr/>
        </p:nvPicPr>
        <p:blipFill rotWithShape="1">
          <a:blip r:embed="rId3">
            <a:alphaModFix/>
          </a:blip>
          <a:srcRect l="22056" t="25799" r="43148" b="29994"/>
          <a:stretch/>
        </p:blipFill>
        <p:spPr>
          <a:xfrm>
            <a:off x="285135" y="1563329"/>
            <a:ext cx="5414305" cy="3982065"/>
          </a:xfrm>
          <a:prstGeom prst="rect">
            <a:avLst/>
          </a:prstGeom>
          <a:noFill/>
          <a:ln>
            <a:noFill/>
          </a:ln>
        </p:spPr>
      </p:pic>
      <p:sp>
        <p:nvSpPr>
          <p:cNvPr id="302" name="Google Shape;302;p39"/>
          <p:cNvSpPr txBox="1">
            <a:spLocks noGrp="1"/>
          </p:cNvSpPr>
          <p:nvPr>
            <p:ph type="title"/>
          </p:nvPr>
        </p:nvSpPr>
        <p:spPr>
          <a:xfrm>
            <a:off x="914375" y="260375"/>
            <a:ext cx="10363800" cy="7071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1600" b="1" dirty="0"/>
              <a:t>KPI-5 AVERAGE PRICE  AND PAYMENT VALUES FROM CUSTOMERS OF SAO PAULO CITY</a:t>
            </a:r>
            <a:endParaRPr sz="1600" b="1" dirty="0"/>
          </a:p>
        </p:txBody>
      </p:sp>
      <p:sp>
        <p:nvSpPr>
          <p:cNvPr id="303" name="Google Shape;303;p39"/>
          <p:cNvSpPr txBox="1"/>
          <p:nvPr/>
        </p:nvSpPr>
        <p:spPr>
          <a:xfrm>
            <a:off x="5699440" y="3280499"/>
            <a:ext cx="909600" cy="29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300" b="1" dirty="0">
                <a:solidFill>
                  <a:schemeClr val="dk1"/>
                </a:solidFill>
                <a:latin typeface="Twentieth Century"/>
                <a:ea typeface="Twentieth Century"/>
                <a:cs typeface="Twentieth Century"/>
                <a:sym typeface="Twentieth Century"/>
              </a:rPr>
              <a:t>OUTPUT :</a:t>
            </a:r>
            <a:endParaRPr sz="1300" b="1" dirty="0">
              <a:solidFill>
                <a:schemeClr val="dk1"/>
              </a:solidFill>
              <a:latin typeface="Twentieth Century"/>
              <a:ea typeface="Twentieth Century"/>
              <a:cs typeface="Twentieth Century"/>
              <a:sym typeface="Twentieth Century"/>
            </a:endParaRPr>
          </a:p>
        </p:txBody>
      </p:sp>
      <p:pic>
        <p:nvPicPr>
          <p:cNvPr id="304" name="Google Shape;304;p39" title="IMG-20251012-WA0012.jpg"/>
          <p:cNvPicPr preferRelativeResize="0"/>
          <p:nvPr/>
        </p:nvPicPr>
        <p:blipFill rotWithShape="1">
          <a:blip r:embed="rId4">
            <a:alphaModFix/>
          </a:blip>
          <a:srcRect t="68535" r="55997" b="18475"/>
          <a:stretch/>
        </p:blipFill>
        <p:spPr>
          <a:xfrm>
            <a:off x="6609040" y="2983587"/>
            <a:ext cx="5297825" cy="8908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0" name="Google Shape;310;p40"/>
          <p:cNvSpPr txBox="1"/>
          <p:nvPr/>
        </p:nvSpPr>
        <p:spPr>
          <a:xfrm>
            <a:off x="5063613" y="175325"/>
            <a:ext cx="2497393" cy="57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3200" b="1" dirty="0">
                <a:solidFill>
                  <a:srgbClr val="FF0000"/>
                </a:solidFill>
                <a:latin typeface="Twentieth Century"/>
                <a:ea typeface="Twentieth Century"/>
                <a:cs typeface="Twentieth Century"/>
                <a:sym typeface="Twentieth Century"/>
              </a:rPr>
              <a:t>INSIGHTS</a:t>
            </a:r>
            <a:endParaRPr sz="3200" b="1" dirty="0">
              <a:solidFill>
                <a:srgbClr val="FF0000"/>
              </a:solidFill>
              <a:latin typeface="Twentieth Century"/>
              <a:ea typeface="Twentieth Century"/>
              <a:cs typeface="Twentieth Century"/>
              <a:sym typeface="Twentieth Century"/>
            </a:endParaRPr>
          </a:p>
        </p:txBody>
      </p:sp>
      <p:sp>
        <p:nvSpPr>
          <p:cNvPr id="5" name="Rectangle 1">
            <a:extLst>
              <a:ext uri="{FF2B5EF4-FFF2-40B4-BE49-F238E27FC236}">
                <a16:creationId xmlns:a16="http://schemas.microsoft.com/office/drawing/2014/main" id="{3D269377-C673-FB1A-AC9C-E3ED92891DD1}"/>
              </a:ext>
            </a:extLst>
          </p:cNvPr>
          <p:cNvSpPr>
            <a:spLocks noChangeArrowheads="1"/>
          </p:cNvSpPr>
          <p:nvPr/>
        </p:nvSpPr>
        <p:spPr bwMode="auto">
          <a:xfrm>
            <a:off x="467223" y="582287"/>
            <a:ext cx="11257553" cy="610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b="1" i="0" u="none" strike="noStrike" cap="none" normalizeH="0" baseline="0" dirty="0">
                <a:ln>
                  <a:noFill/>
                </a:ln>
                <a:solidFill>
                  <a:schemeClr val="tx1"/>
                </a:solidFill>
                <a:effectLst/>
                <a:latin typeface="Arial" panose="020B0604020202020204" pitchFamily="34" charset="0"/>
              </a:rPr>
              <a:t>Healthy Business Performance:</a:t>
            </a:r>
            <a:r>
              <a:rPr kumimoji="0" lang="en-US" altLang="en-US" b="0" i="0" u="none" strike="noStrike" cap="none" normalizeH="0" baseline="0" dirty="0">
                <a:ln>
                  <a:noFill/>
                </a:ln>
                <a:solidFill>
                  <a:schemeClr val="tx1"/>
                </a:solidFill>
                <a:effectLst/>
                <a:latin typeface="Arial" panose="020B0604020202020204" pitchFamily="34" charset="0"/>
              </a:rPr>
              <a:t> Strong sales (16.1M) with solid profit (2.38M).</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b="1" i="0" u="none" strike="noStrike" cap="none" normalizeH="0" baseline="0" dirty="0">
                <a:ln>
                  <a:noFill/>
                </a:ln>
                <a:solidFill>
                  <a:schemeClr val="tx1"/>
                </a:solidFill>
                <a:effectLst/>
                <a:latin typeface="Arial" panose="020B0604020202020204" pitchFamily="34" charset="0"/>
              </a:rPr>
              <a:t>Customer Retention Opportunity:</a:t>
            </a:r>
            <a:r>
              <a:rPr kumimoji="0" lang="en-US" altLang="en-US" b="0" i="0" u="none" strike="noStrike" cap="none" normalizeH="0" baseline="0" dirty="0">
                <a:ln>
                  <a:noFill/>
                </a:ln>
                <a:solidFill>
                  <a:schemeClr val="tx1"/>
                </a:solidFill>
                <a:effectLst/>
                <a:latin typeface="Arial" panose="020B0604020202020204" pitchFamily="34" charset="0"/>
              </a:rPr>
              <a:t> Orders are nearly equal to customers, indicating low repeat purchases.</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b="1" i="0" u="none" strike="noStrike" cap="none" normalizeH="0" baseline="0" dirty="0">
                <a:ln>
                  <a:noFill/>
                </a:ln>
                <a:solidFill>
                  <a:schemeClr val="tx1"/>
                </a:solidFill>
                <a:effectLst/>
                <a:latin typeface="Arial" panose="020B0604020202020204" pitchFamily="34" charset="0"/>
              </a:rPr>
              <a:t>Sales Concentration on Weekdays:</a:t>
            </a:r>
            <a:r>
              <a:rPr kumimoji="0" lang="en-US" altLang="en-US" b="0" i="0" u="none" strike="noStrike" cap="none" normalizeH="0" baseline="0" dirty="0">
                <a:ln>
                  <a:noFill/>
                </a:ln>
                <a:solidFill>
                  <a:schemeClr val="tx1"/>
                </a:solidFill>
                <a:effectLst/>
                <a:latin typeface="Arial" panose="020B0604020202020204" pitchFamily="34" charset="0"/>
              </a:rPr>
              <a:t> 77% of sales occur on weekdays; weekends show growth potential.</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b="1" i="0" u="none" strike="noStrike" cap="none" normalizeH="0" baseline="0" dirty="0">
                <a:ln>
                  <a:noFill/>
                </a:ln>
                <a:solidFill>
                  <a:schemeClr val="tx1"/>
                </a:solidFill>
                <a:effectLst/>
                <a:latin typeface="Arial" panose="020B0604020202020204" pitchFamily="34" charset="0"/>
              </a:rPr>
              <a:t>Delivery Speed Matters:</a:t>
            </a:r>
            <a:r>
              <a:rPr kumimoji="0" lang="en-US" altLang="en-US" b="0" i="0" u="none" strike="noStrike" cap="none" normalizeH="0" baseline="0" dirty="0">
                <a:ln>
                  <a:noFill/>
                </a:ln>
                <a:solidFill>
                  <a:schemeClr val="tx1"/>
                </a:solidFill>
                <a:effectLst/>
                <a:latin typeface="Arial" panose="020B0604020202020204" pitchFamily="34" charset="0"/>
              </a:rPr>
              <a:t> Faster shipping significantly improves customer review scores.</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b="1" i="0" u="none" strike="noStrike" cap="none" normalizeH="0" baseline="0" dirty="0">
                <a:ln>
                  <a:noFill/>
                </a:ln>
                <a:solidFill>
                  <a:schemeClr val="tx1"/>
                </a:solidFill>
                <a:effectLst/>
                <a:latin typeface="Arial" panose="020B0604020202020204" pitchFamily="34" charset="0"/>
              </a:rPr>
              <a:t>Logistics Bottleneck:</a:t>
            </a:r>
            <a:r>
              <a:rPr kumimoji="0" lang="en-US" altLang="en-US" b="0" i="0" u="none" strike="noStrike" cap="none" normalizeH="0" baseline="0" dirty="0">
                <a:ln>
                  <a:noFill/>
                </a:ln>
                <a:solidFill>
                  <a:schemeClr val="tx1"/>
                </a:solidFill>
                <a:effectLst/>
                <a:latin typeface="Arial" panose="020B0604020202020204" pitchFamily="34" charset="0"/>
              </a:rPr>
              <a:t> Electronics category has the highest average delivery time.</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b="1" i="0" u="none" strike="noStrike" cap="none" normalizeH="0" baseline="0" dirty="0">
                <a:ln>
                  <a:noFill/>
                </a:ln>
                <a:solidFill>
                  <a:schemeClr val="tx1"/>
                </a:solidFill>
                <a:effectLst/>
                <a:latin typeface="Arial" panose="020B0604020202020204" pitchFamily="34" charset="0"/>
              </a:rPr>
              <a:t>Payment Preference:</a:t>
            </a:r>
            <a:r>
              <a:rPr kumimoji="0" lang="en-US" altLang="en-US" b="0" i="0" u="none" strike="noStrike" cap="none" normalizeH="0" baseline="0" dirty="0">
                <a:ln>
                  <a:noFill/>
                </a:ln>
                <a:solidFill>
                  <a:schemeClr val="tx1"/>
                </a:solidFill>
                <a:effectLst/>
                <a:latin typeface="Arial" panose="020B0604020202020204" pitchFamily="34" charset="0"/>
              </a:rPr>
              <a:t> Credit cards are the most used payment method for 5-star reviews.</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b="1" i="0" u="none" strike="noStrike" cap="none" normalizeH="0" baseline="0" dirty="0">
                <a:ln>
                  <a:noFill/>
                </a:ln>
                <a:solidFill>
                  <a:schemeClr val="tx1"/>
                </a:solidFill>
                <a:effectLst/>
                <a:latin typeface="Arial" panose="020B0604020202020204" pitchFamily="34" charset="0"/>
              </a:rPr>
              <a:t>Top Revenue Categories:</a:t>
            </a:r>
            <a:r>
              <a:rPr kumimoji="0" lang="en-US" altLang="en-US" b="0" i="0" u="none" strike="noStrike" cap="none" normalizeH="0" baseline="0" dirty="0">
                <a:ln>
                  <a:noFill/>
                </a:ln>
                <a:solidFill>
                  <a:schemeClr val="tx1"/>
                </a:solidFill>
                <a:effectLst/>
                <a:latin typeface="Arial" panose="020B0604020202020204" pitchFamily="34" charset="0"/>
              </a:rPr>
              <a:t> Beauty &amp; Health, Home &amp; Bath, and Gifts lead sales.</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b="1" i="0" u="none" strike="noStrike" cap="none" normalizeH="0" baseline="0" dirty="0">
                <a:ln>
                  <a:noFill/>
                </a:ln>
                <a:solidFill>
                  <a:schemeClr val="tx1"/>
                </a:solidFill>
                <a:effectLst/>
                <a:latin typeface="Arial" panose="020B0604020202020204" pitchFamily="34" charset="0"/>
              </a:rPr>
              <a:t>Regional Insight:</a:t>
            </a:r>
            <a:r>
              <a:rPr kumimoji="0" lang="en-US" altLang="en-US" b="0" i="0" u="none" strike="noStrike" cap="none" normalizeH="0" baseline="0" dirty="0">
                <a:ln>
                  <a:noFill/>
                </a:ln>
                <a:solidFill>
                  <a:schemeClr val="tx1"/>
                </a:solidFill>
                <a:effectLst/>
                <a:latin typeface="Arial" panose="020B0604020202020204" pitchFamily="34" charset="0"/>
              </a:rPr>
              <a:t> São Paulo shows higher payment value than product price, indicating multi-item purchases.</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b="1" i="0" u="none" strike="noStrike" cap="none" normalizeH="0" baseline="0" dirty="0">
                <a:ln>
                  <a:noFill/>
                </a:ln>
                <a:solidFill>
                  <a:schemeClr val="tx1"/>
                </a:solidFill>
                <a:effectLst/>
                <a:latin typeface="Arial" panose="020B0604020202020204" pitchFamily="34" charset="0"/>
              </a:rPr>
              <a:t>Action Focus:</a:t>
            </a:r>
            <a:r>
              <a:rPr kumimoji="0" lang="en-US" altLang="en-US" b="0" i="0" u="none" strike="noStrike" cap="none" normalizeH="0" baseline="0" dirty="0">
                <a:ln>
                  <a:noFill/>
                </a:ln>
                <a:solidFill>
                  <a:schemeClr val="tx1"/>
                </a:solidFill>
                <a:effectLst/>
                <a:latin typeface="Arial" panose="020B0604020202020204" pitchFamily="34" charset="0"/>
              </a:rPr>
              <a:t> Improve logistics, increase weekend promotions, and drive repeat purchases.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1"/>
          <p:cNvSpPr txBox="1">
            <a:spLocks noGrp="1"/>
          </p:cNvSpPr>
          <p:nvPr>
            <p:ph type="title"/>
          </p:nvPr>
        </p:nvSpPr>
        <p:spPr>
          <a:xfrm>
            <a:off x="838200" y="235973"/>
            <a:ext cx="10515600" cy="87048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3600"/>
              <a:buFont typeface="Twentieth Century"/>
              <a:buNone/>
            </a:pPr>
            <a:r>
              <a:rPr lang="en-US" b="1" dirty="0">
                <a:solidFill>
                  <a:srgbClr val="FF0000"/>
                </a:solidFill>
              </a:rPr>
              <a:t>RECOMMENDATIONS</a:t>
            </a:r>
            <a:endParaRPr sz="4800" b="1" dirty="0">
              <a:solidFill>
                <a:srgbClr val="FF0000"/>
              </a:solidFill>
            </a:endParaRPr>
          </a:p>
        </p:txBody>
      </p:sp>
      <p:sp>
        <p:nvSpPr>
          <p:cNvPr id="316" name="Google Shape;316;p41"/>
          <p:cNvSpPr txBox="1">
            <a:spLocks noGrp="1"/>
          </p:cNvSpPr>
          <p:nvPr>
            <p:ph idx="1"/>
          </p:nvPr>
        </p:nvSpPr>
        <p:spPr>
          <a:xfrm>
            <a:off x="838200" y="1126127"/>
            <a:ext cx="10515600" cy="5669845"/>
          </a:xfrm>
          <a:prstGeom prst="rect">
            <a:avLst/>
          </a:prstGeom>
          <a:noFill/>
          <a:ln>
            <a:noFill/>
          </a:ln>
        </p:spPr>
        <p:txBody>
          <a:bodyPr spcFirstLastPara="1" wrap="square" lIns="91425" tIns="45700" rIns="91425" bIns="45700" anchor="t" anchorCtr="0">
            <a:normAutofit/>
          </a:bodyPr>
          <a:lstStyle/>
          <a:p>
            <a:pPr marL="0" marR="0" lvl="0" indent="0" algn="just" rtl="0">
              <a:lnSpc>
                <a:spcPct val="115000"/>
              </a:lnSpc>
              <a:spcBef>
                <a:spcPts val="1200"/>
              </a:spcBef>
              <a:spcAft>
                <a:spcPts val="0"/>
              </a:spcAft>
              <a:buNone/>
            </a:pPr>
            <a:endParaRPr sz="7196" b="1" dirty="0">
              <a:latin typeface="Arial"/>
              <a:ea typeface="Arial"/>
              <a:cs typeface="Arial"/>
              <a:sym typeface="Arial"/>
            </a:endParaRPr>
          </a:p>
          <a:p>
            <a:pPr marL="0" lvl="0" indent="0" algn="l" rtl="0">
              <a:lnSpc>
                <a:spcPct val="120000"/>
              </a:lnSpc>
              <a:spcBef>
                <a:spcPts val="1200"/>
              </a:spcBef>
              <a:spcAft>
                <a:spcPts val="0"/>
              </a:spcAft>
              <a:buSzPct val="100000"/>
              <a:buNone/>
            </a:pPr>
            <a:endParaRPr dirty="0"/>
          </a:p>
        </p:txBody>
      </p:sp>
      <p:sp>
        <p:nvSpPr>
          <p:cNvPr id="2" name="Rectangle 1">
            <a:extLst>
              <a:ext uri="{FF2B5EF4-FFF2-40B4-BE49-F238E27FC236}">
                <a16:creationId xmlns:a16="http://schemas.microsoft.com/office/drawing/2014/main" id="{2B07D961-A87A-1051-9E49-CC897406D7D1}"/>
              </a:ext>
            </a:extLst>
          </p:cNvPr>
          <p:cNvSpPr>
            <a:spLocks noChangeArrowheads="1"/>
          </p:cNvSpPr>
          <p:nvPr/>
        </p:nvSpPr>
        <p:spPr bwMode="auto">
          <a:xfrm>
            <a:off x="1702209" y="1293478"/>
            <a:ext cx="8787581" cy="4438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Reduce delivery time to improve customer ratings</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Increase repeat sales through loyalty offers</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Run weekend-focused promotions</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Improve logistics for electronics category</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Invest more in top-selling products</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Promote digital and credit card payments</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Expand strategies from high-performing regions</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Optimize shipping and operational costs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42"/>
          <p:cNvSpPr txBox="1">
            <a:spLocks noGrp="1"/>
          </p:cNvSpPr>
          <p:nvPr>
            <p:ph idx="1"/>
          </p:nvPr>
        </p:nvSpPr>
        <p:spPr>
          <a:xfrm>
            <a:off x="970072" y="285135"/>
            <a:ext cx="10058400" cy="5476568"/>
          </a:xfrm>
          <a:prstGeom prst="rect">
            <a:avLst/>
          </a:prstGeom>
          <a:noFill/>
          <a:ln>
            <a:noFill/>
          </a:ln>
        </p:spPr>
        <p:txBody>
          <a:bodyPr spcFirstLastPara="1" wrap="square" lIns="91425" tIns="45700" rIns="91425" bIns="45700" anchor="t" anchorCtr="0">
            <a:normAutofit/>
          </a:bodyPr>
          <a:lstStyle/>
          <a:p>
            <a:pPr marL="0" lvl="0" indent="0" algn="l" rtl="0">
              <a:lnSpc>
                <a:spcPct val="120000"/>
              </a:lnSpc>
              <a:spcBef>
                <a:spcPts val="0"/>
              </a:spcBef>
              <a:spcAft>
                <a:spcPts val="0"/>
              </a:spcAft>
              <a:buSzPts val="2000"/>
              <a:buNone/>
            </a:pPr>
            <a:r>
              <a:rPr lang="en-US" dirty="0"/>
              <a:t>                                                     </a:t>
            </a:r>
          </a:p>
          <a:p>
            <a:pPr marL="0" lvl="0" indent="0" algn="ctr" rtl="0">
              <a:lnSpc>
                <a:spcPct val="120000"/>
              </a:lnSpc>
              <a:spcBef>
                <a:spcPts val="1000"/>
              </a:spcBef>
              <a:spcAft>
                <a:spcPts val="0"/>
              </a:spcAft>
              <a:buSzPts val="2000"/>
              <a:buNone/>
            </a:pPr>
            <a:r>
              <a:rPr lang="en-US" dirty="0"/>
              <a:t>     </a:t>
            </a:r>
            <a:r>
              <a:rPr lang="en-US" sz="3600" b="1" dirty="0">
                <a:solidFill>
                  <a:srgbClr val="FF0000"/>
                </a:solidFill>
              </a:rPr>
              <a:t>SUMMARY</a:t>
            </a:r>
            <a:endParaRPr lang="en-IN" dirty="0">
              <a:solidFill>
                <a:srgbClr val="FF0000"/>
              </a:solidFill>
            </a:endParaRPr>
          </a:p>
          <a:p>
            <a:pPr marL="0" lvl="0" indent="0" algn="ctr" rtl="0">
              <a:lnSpc>
                <a:spcPct val="120000"/>
              </a:lnSpc>
              <a:spcBef>
                <a:spcPts val="1000"/>
              </a:spcBef>
              <a:spcAft>
                <a:spcPts val="0"/>
              </a:spcAft>
              <a:buSzPts val="2000"/>
              <a:buNone/>
            </a:pPr>
            <a:endParaRPr lang="en-US" sz="2400" b="1" dirty="0">
              <a:latin typeface="Arial" panose="020B0604020202020204" pitchFamily="34" charset="0"/>
              <a:cs typeface="Arial" panose="020B0604020202020204" pitchFamily="34" charset="0"/>
            </a:endParaRPr>
          </a:p>
          <a:p>
            <a:pPr marL="0" lvl="0" indent="0" algn="ctr" rtl="0">
              <a:lnSpc>
                <a:spcPct val="120000"/>
              </a:lnSpc>
              <a:spcBef>
                <a:spcPts val="1000"/>
              </a:spcBef>
              <a:spcAft>
                <a:spcPts val="0"/>
              </a:spcAft>
              <a:buSzPts val="2000"/>
              <a:buNone/>
            </a:pPr>
            <a:r>
              <a:rPr lang="en-US" sz="2400" b="1" dirty="0">
                <a:latin typeface="Arial" panose="020B0604020202020204" pitchFamily="34" charset="0"/>
                <a:cs typeface="Arial" panose="020B0604020202020204" pitchFamily="34" charset="0"/>
              </a:rPr>
              <a:t>Overall, regular monitoring of customer reviews, real-time tracking of fleet performance, together with proper shipment tracking and a communication system can improve </a:t>
            </a:r>
            <a:r>
              <a:rPr lang="en-US" sz="2400" b="1" dirty="0" err="1">
                <a:latin typeface="Arial" panose="020B0604020202020204" pitchFamily="34" charset="0"/>
                <a:cs typeface="Arial" panose="020B0604020202020204" pitchFamily="34" charset="0"/>
              </a:rPr>
              <a:t>Olist's</a:t>
            </a:r>
            <a:r>
              <a:rPr lang="en-US" sz="2400" b="1" dirty="0">
                <a:latin typeface="Arial" panose="020B0604020202020204" pitchFamily="34" charset="0"/>
                <a:cs typeface="Arial" panose="020B0604020202020204" pitchFamily="34" charset="0"/>
              </a:rPr>
              <a:t> delivery and supply chain performance and ensure customers are highly satisfied with the service.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3"/>
          <p:cNvSpPr txBox="1">
            <a:spLocks noGrp="1"/>
          </p:cNvSpPr>
          <p:nvPr>
            <p:ph type="title"/>
          </p:nvPr>
        </p:nvSpPr>
        <p:spPr>
          <a:xfrm>
            <a:off x="2231136" y="471950"/>
            <a:ext cx="7729728" cy="727734"/>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0000"/>
              </a:buClr>
              <a:buSzPts val="4800"/>
              <a:buFont typeface="Twentieth Century"/>
              <a:buNone/>
            </a:pPr>
            <a:r>
              <a:rPr lang="en-US" sz="4000" b="1" dirty="0">
                <a:solidFill>
                  <a:srgbClr val="FF0000"/>
                </a:solidFill>
              </a:rPr>
              <a:t>CONCLUSION</a:t>
            </a:r>
            <a:endParaRPr sz="4000" dirty="0"/>
          </a:p>
        </p:txBody>
      </p:sp>
      <p:sp>
        <p:nvSpPr>
          <p:cNvPr id="327" name="Google Shape;327;p43"/>
          <p:cNvSpPr txBox="1">
            <a:spLocks noGrp="1"/>
          </p:cNvSpPr>
          <p:nvPr>
            <p:ph idx="1"/>
          </p:nvPr>
        </p:nvSpPr>
        <p:spPr>
          <a:xfrm>
            <a:off x="1209367" y="1740310"/>
            <a:ext cx="10048567" cy="3999717"/>
          </a:xfrm>
          <a:prstGeom prst="rect">
            <a:avLst/>
          </a:prstGeom>
          <a:noFill/>
          <a:ln>
            <a:noFill/>
          </a:ln>
        </p:spPr>
        <p:txBody>
          <a:bodyPr spcFirstLastPara="1" wrap="square" lIns="91425" tIns="45700" rIns="91425" bIns="45700" anchor="t" anchorCtr="0">
            <a:noAutofit/>
          </a:bodyPr>
          <a:lstStyle/>
          <a:p>
            <a:pPr marL="0" lvl="0" indent="0" algn="just" rtl="0">
              <a:lnSpc>
                <a:spcPct val="120000"/>
              </a:lnSpc>
              <a:spcBef>
                <a:spcPts val="1000"/>
              </a:spcBef>
              <a:spcAft>
                <a:spcPts val="0"/>
              </a:spcAft>
              <a:buSzPts val="2200"/>
              <a:buNone/>
            </a:pPr>
            <a:r>
              <a:rPr lang="en-US" sz="2000" b="1" dirty="0">
                <a:solidFill>
                  <a:schemeClr val="dk1"/>
                </a:solidFill>
                <a:latin typeface="Arial" panose="020B0604020202020204" pitchFamily="34" charset="0"/>
                <a:cs typeface="Arial" panose="020B0604020202020204" pitchFamily="34" charset="0"/>
              </a:rPr>
              <a:t>The </a:t>
            </a:r>
            <a:r>
              <a:rPr lang="en-US" sz="2000" b="1" dirty="0" err="1">
                <a:solidFill>
                  <a:schemeClr val="dk1"/>
                </a:solidFill>
                <a:latin typeface="Arial" panose="020B0604020202020204" pitchFamily="34" charset="0"/>
                <a:cs typeface="Arial" panose="020B0604020202020204" pitchFamily="34" charset="0"/>
              </a:rPr>
              <a:t>olist</a:t>
            </a:r>
            <a:r>
              <a:rPr lang="en-US" sz="2000" b="1" dirty="0">
                <a:solidFill>
                  <a:schemeClr val="dk1"/>
                </a:solidFill>
                <a:latin typeface="Arial" panose="020B0604020202020204" pitchFamily="34" charset="0"/>
                <a:cs typeface="Arial" panose="020B0604020202020204" pitchFamily="34" charset="0"/>
              </a:rPr>
              <a:t> store analysis project provides valuable insights into customer behavior and payment statistics. The analysis of these KPIs helps </a:t>
            </a:r>
            <a:r>
              <a:rPr lang="en-US" sz="2000" b="1" dirty="0" err="1">
                <a:solidFill>
                  <a:schemeClr val="dk1"/>
                </a:solidFill>
                <a:latin typeface="Arial" panose="020B0604020202020204" pitchFamily="34" charset="0"/>
                <a:cs typeface="Arial" panose="020B0604020202020204" pitchFamily="34" charset="0"/>
              </a:rPr>
              <a:t>Olist</a:t>
            </a:r>
            <a:r>
              <a:rPr lang="en-US" sz="2000" b="1" dirty="0">
                <a:solidFill>
                  <a:schemeClr val="dk1"/>
                </a:solidFill>
                <a:latin typeface="Arial" panose="020B0604020202020204" pitchFamily="34" charset="0"/>
                <a:cs typeface="Arial" panose="020B0604020202020204" pitchFamily="34" charset="0"/>
              </a:rPr>
              <a:t> in identifying areas of improvement and creating targeted marketing campaigns. As a data analyst, I have used excel and </a:t>
            </a:r>
            <a:r>
              <a:rPr lang="en-US" sz="2000" b="1" dirty="0" err="1">
                <a:solidFill>
                  <a:schemeClr val="dk1"/>
                </a:solidFill>
                <a:latin typeface="Arial" panose="020B0604020202020204" pitchFamily="34" charset="0"/>
                <a:cs typeface="Arial" panose="020B0604020202020204" pitchFamily="34" charset="0"/>
              </a:rPr>
              <a:t>mysql</a:t>
            </a:r>
            <a:r>
              <a:rPr lang="en-US" sz="2000" b="1" dirty="0">
                <a:solidFill>
                  <a:schemeClr val="dk1"/>
                </a:solidFill>
                <a:latin typeface="Arial" panose="020B0604020202020204" pitchFamily="34" charset="0"/>
                <a:cs typeface="Arial" panose="020B0604020202020204" pitchFamily="34" charset="0"/>
              </a:rPr>
              <a:t> to clean and manipulate the dataset and create meaningful visualizations. This project serves as a great example of how data analysis can help businesses make informed decisions.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pic>
        <p:nvPicPr>
          <p:cNvPr id="338" name="Google Shape;338;p45"/>
          <p:cNvPicPr preferRelativeResize="0">
            <a:picLocks noGrp="1"/>
          </p:cNvPicPr>
          <p:nvPr>
            <p:ph idx="1"/>
          </p:nvPr>
        </p:nvPicPr>
        <p:blipFill rotWithShape="1">
          <a:blip r:embed="rId3">
            <a:alphaModFix/>
          </a:blip>
          <a:srcRect/>
          <a:stretch/>
        </p:blipFill>
        <p:spPr>
          <a:xfrm>
            <a:off x="1641022" y="1102178"/>
            <a:ext cx="8703128" cy="4721680"/>
          </a:xfrm>
          <a:prstGeom prst="rect">
            <a:avLst/>
          </a:prstGeom>
          <a:noFill/>
          <a:ln>
            <a:noFill/>
          </a:ln>
        </p:spPr>
      </p:pic>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TM10001115[[fn=Parcel]]</Template>
  <TotalTime>96</TotalTime>
  <Words>834</Words>
  <Application>Microsoft Office PowerPoint</Application>
  <PresentationFormat>Widescreen</PresentationFormat>
  <Paragraphs>78</Paragraphs>
  <Slides>26</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Gill Sans MT</vt:lpstr>
      <vt:lpstr>Noto Sans Symbols</vt:lpstr>
      <vt:lpstr>Twentieth Century</vt:lpstr>
      <vt:lpstr>Wingdings</vt:lpstr>
      <vt:lpstr>Parcel</vt:lpstr>
      <vt:lpstr>E-COMMERCE OLIST STORE ANALYSIS</vt:lpstr>
      <vt:lpstr> TOPICS</vt:lpstr>
      <vt:lpstr>OVERVIEW</vt:lpstr>
      <vt:lpstr>KPI’S</vt:lpstr>
      <vt:lpstr>                            WEEKDAY VS WEEKEND PAYMENT STATISTICS</vt:lpstr>
      <vt:lpstr>         PAYMENT TYPE WITH REVIEW SCORE 5</vt:lpstr>
      <vt:lpstr>               AVERAGE NUMBER OF DELIVERY DAYS TAKEN FOR PET SHOP</vt:lpstr>
      <vt:lpstr>   AVG PRICE &amp; PAYMENT FOR SAOPAULO</vt:lpstr>
      <vt:lpstr>AVERAGE SHIPPING DAYS  VS       REVIEW SCORES</vt:lpstr>
      <vt:lpstr>MS EXCEL DASHBOARD </vt:lpstr>
      <vt:lpstr>PowerPoint Presentation</vt:lpstr>
      <vt:lpstr>POWER BI DASHBOARD</vt:lpstr>
      <vt:lpstr>PowerPoint Presentation</vt:lpstr>
      <vt:lpstr>PowerPoint Presentation</vt:lpstr>
      <vt:lpstr>TABLEAU DASHBOARD</vt:lpstr>
      <vt:lpstr>PowerPoint Presentation</vt:lpstr>
      <vt:lpstr>PowerPoint Presentation</vt:lpstr>
      <vt:lpstr>SQL QUERY</vt:lpstr>
      <vt:lpstr>KPI-1 NUMBER OF ORDERS WITH REVIEW SCORE 5 AND PAYMENT TYPE AS CREDIT CARD </vt:lpstr>
      <vt:lpstr>KPI-3 PERCENTAGE OF ORDERS WITH FREE SHIPPING BY PAYMENT TYPE</vt:lpstr>
      <vt:lpstr>KPI-5 AVERAGE PRICE  AND PAYMENT VALUES FROM CUSTOMERS OF SAO PAULO CITY</vt:lpstr>
      <vt:lpstr>PowerPoint Presentation</vt:lpstr>
      <vt:lpstr>RECOMMENDATIONS</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ADWIK</dc:creator>
  <cp:lastModifiedBy>Itisha Sahu</cp:lastModifiedBy>
  <cp:revision>2</cp:revision>
  <dcterms:modified xsi:type="dcterms:W3CDTF">2026-01-10T13:08:59Z</dcterms:modified>
</cp:coreProperties>
</file>